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Arimo" panose="020B0604020202020204" charset="0"/>
      <p:regular r:id="rId18"/>
    </p:embeddedFont>
    <p:embeddedFont>
      <p:font typeface="Arimo Bold" panose="020B0604020202020204" charset="0"/>
      <p:regular r:id="rId19"/>
    </p:embeddedFont>
    <p:embeddedFont>
      <p:font typeface="Canva Sans" panose="020B0604020202020204" charset="0"/>
      <p:regular r:id="rId20"/>
    </p:embeddedFont>
    <p:embeddedFont>
      <p:font typeface="Century Gothic Paneuropean Bold" panose="020B0604020202020204" charset="0"/>
      <p:regular r:id="rId21"/>
    </p:embeddedFont>
    <p:embeddedFont>
      <p:font typeface="Lexend Mega"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66" autoAdjust="0"/>
    <p:restoredTop sz="89905" autoAdjust="0"/>
  </p:normalViewPr>
  <p:slideViewPr>
    <p:cSldViewPr>
      <p:cViewPr varScale="1">
        <p:scale>
          <a:sx n="21" d="100"/>
          <a:sy n="21" d="100"/>
        </p:scale>
        <p:origin x="414"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4.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20.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1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23.png"/><Relationship Id="rId5" Type="http://schemas.openxmlformats.org/officeDocument/2006/relationships/image" Target="../media/image4.svg"/><Relationship Id="rId10" Type="http://schemas.openxmlformats.org/officeDocument/2006/relationships/image" Target="../media/image22.png"/><Relationship Id="rId4" Type="http://schemas.openxmlformats.org/officeDocument/2006/relationships/image" Target="../media/image3.png"/><Relationship Id="rId9" Type="http://schemas.openxmlformats.org/officeDocument/2006/relationships/image" Target="../media/image10.svg"/></Relationships>
</file>

<file path=ppt/slides/_rels/slide1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25.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4F0D8"/>
        </a:solidFill>
        <a:effectLst/>
      </p:bgPr>
    </p:bg>
    <p:spTree>
      <p:nvGrpSpPr>
        <p:cNvPr id="1" name=""/>
        <p:cNvGrpSpPr/>
        <p:nvPr/>
      </p:nvGrpSpPr>
      <p:grpSpPr>
        <a:xfrm>
          <a:off x="0" y="0"/>
          <a:ext cx="0" cy="0"/>
          <a:chOff x="0" y="0"/>
          <a:chExt cx="0" cy="0"/>
        </a:xfrm>
      </p:grpSpPr>
      <p:grpSp>
        <p:nvGrpSpPr>
          <p:cNvPr id="2" name="Group 2"/>
          <p:cNvGrpSpPr/>
          <p:nvPr/>
        </p:nvGrpSpPr>
        <p:grpSpPr>
          <a:xfrm>
            <a:off x="8923330" y="-10762756"/>
            <a:ext cx="13891641" cy="13917896"/>
            <a:chOff x="0" y="0"/>
            <a:chExt cx="18522188" cy="18557195"/>
          </a:xfrm>
        </p:grpSpPr>
        <p:sp>
          <p:nvSpPr>
            <p:cNvPr id="3" name="Freeform 3"/>
            <p:cNvSpPr/>
            <p:nvPr/>
          </p:nvSpPr>
          <p:spPr>
            <a:xfrm rot="9891071">
              <a:off x="6460436" y="8069728"/>
              <a:ext cx="11104787" cy="8800544"/>
            </a:xfrm>
            <a:custGeom>
              <a:avLst/>
              <a:gdLst/>
              <a:ahLst/>
              <a:cxnLst/>
              <a:rect l="l" t="t" r="r" b="b"/>
              <a:pathLst>
                <a:path w="11104787" h="8800544">
                  <a:moveTo>
                    <a:pt x="0" y="0"/>
                  </a:moveTo>
                  <a:lnTo>
                    <a:pt x="11104787" y="0"/>
                  </a:lnTo>
                  <a:lnTo>
                    <a:pt x="11104787" y="8800544"/>
                  </a:lnTo>
                  <a:lnTo>
                    <a:pt x="0" y="880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9891071">
              <a:off x="1765898" y="1580716"/>
              <a:ext cx="14144856" cy="15395762"/>
            </a:xfrm>
            <a:custGeom>
              <a:avLst/>
              <a:gdLst/>
              <a:ahLst/>
              <a:cxnLst/>
              <a:rect l="l" t="t" r="r" b="b"/>
              <a:pathLst>
                <a:path w="14144856" h="15395762">
                  <a:moveTo>
                    <a:pt x="0" y="0"/>
                  </a:moveTo>
                  <a:lnTo>
                    <a:pt x="14144857" y="0"/>
                  </a:lnTo>
                  <a:lnTo>
                    <a:pt x="14144857" y="15395763"/>
                  </a:lnTo>
                  <a:lnTo>
                    <a:pt x="0" y="1539576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9891071">
              <a:off x="8119241" y="12409009"/>
              <a:ext cx="4618551" cy="5486400"/>
            </a:xfrm>
            <a:custGeom>
              <a:avLst/>
              <a:gdLst/>
              <a:ahLst/>
              <a:cxnLst/>
              <a:rect l="l" t="t" r="r" b="b"/>
              <a:pathLst>
                <a:path w="4618551" h="5486400">
                  <a:moveTo>
                    <a:pt x="0" y="0"/>
                  </a:moveTo>
                  <a:lnTo>
                    <a:pt x="4618552" y="0"/>
                  </a:lnTo>
                  <a:lnTo>
                    <a:pt x="4618552" y="5486400"/>
                  </a:lnTo>
                  <a:lnTo>
                    <a:pt x="0" y="54864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9891071">
              <a:off x="4638557" y="11607142"/>
              <a:ext cx="3142211" cy="5486400"/>
            </a:xfrm>
            <a:custGeom>
              <a:avLst/>
              <a:gdLst/>
              <a:ahLst/>
              <a:cxnLst/>
              <a:rect l="l" t="t" r="r" b="b"/>
              <a:pathLst>
                <a:path w="3142211" h="5486400">
                  <a:moveTo>
                    <a:pt x="0" y="0"/>
                  </a:moveTo>
                  <a:lnTo>
                    <a:pt x="3142211" y="0"/>
                  </a:lnTo>
                  <a:lnTo>
                    <a:pt x="3142211" y="5486400"/>
                  </a:lnTo>
                  <a:lnTo>
                    <a:pt x="0" y="54864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sp>
        <p:nvSpPr>
          <p:cNvPr id="7" name="Freeform 7"/>
          <p:cNvSpPr/>
          <p:nvPr/>
        </p:nvSpPr>
        <p:spPr>
          <a:xfrm>
            <a:off x="16514775" y="8229600"/>
            <a:ext cx="1489050" cy="2519931"/>
          </a:xfrm>
          <a:custGeom>
            <a:avLst/>
            <a:gdLst/>
            <a:ahLst/>
            <a:cxnLst/>
            <a:rect l="l" t="t" r="r" b="b"/>
            <a:pathLst>
              <a:path w="1489050" h="2519931">
                <a:moveTo>
                  <a:pt x="0" y="0"/>
                </a:moveTo>
                <a:lnTo>
                  <a:pt x="1489050" y="0"/>
                </a:lnTo>
                <a:lnTo>
                  <a:pt x="1489050" y="2519931"/>
                </a:lnTo>
                <a:lnTo>
                  <a:pt x="0" y="251993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flipV="1">
            <a:off x="284175" y="-433465"/>
            <a:ext cx="1489050" cy="2519931"/>
          </a:xfrm>
          <a:custGeom>
            <a:avLst/>
            <a:gdLst/>
            <a:ahLst/>
            <a:cxnLst/>
            <a:rect l="l" t="t" r="r" b="b"/>
            <a:pathLst>
              <a:path w="1489050" h="2519931">
                <a:moveTo>
                  <a:pt x="0" y="2519931"/>
                </a:moveTo>
                <a:lnTo>
                  <a:pt x="1489050" y="2519931"/>
                </a:lnTo>
                <a:lnTo>
                  <a:pt x="1489050" y="0"/>
                </a:lnTo>
                <a:lnTo>
                  <a:pt x="0" y="0"/>
                </a:lnTo>
                <a:lnTo>
                  <a:pt x="0" y="2519931"/>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9" name="TextBox 9"/>
          <p:cNvSpPr txBox="1"/>
          <p:nvPr/>
        </p:nvSpPr>
        <p:spPr>
          <a:xfrm>
            <a:off x="381469" y="2958759"/>
            <a:ext cx="17525062" cy="2447062"/>
          </a:xfrm>
          <a:prstGeom prst="rect">
            <a:avLst/>
          </a:prstGeom>
        </p:spPr>
        <p:txBody>
          <a:bodyPr lIns="0" tIns="0" rIns="0" bIns="0" rtlCol="0" anchor="t">
            <a:spAutoFit/>
          </a:bodyPr>
          <a:lstStyle/>
          <a:p>
            <a:pPr algn="ctr">
              <a:lnSpc>
                <a:spcPts val="9594"/>
              </a:lnSpc>
            </a:pPr>
            <a:r>
              <a:rPr lang="en-US" sz="8801" spc="-950">
                <a:solidFill>
                  <a:srgbClr val="2C4600"/>
                </a:solidFill>
                <a:latin typeface="Canva Sans"/>
                <a:ea typeface="Canva Sans"/>
                <a:cs typeface="Canva Sans"/>
                <a:sym typeface="Canva Sans"/>
              </a:rPr>
              <a:t>SUPERSTORE  SALES  ANALYSIS  AND  </a:t>
            </a:r>
          </a:p>
          <a:p>
            <a:pPr algn="ctr">
              <a:lnSpc>
                <a:spcPts val="9594"/>
              </a:lnSpc>
            </a:pPr>
            <a:r>
              <a:rPr lang="en-US" sz="8801" spc="-950">
                <a:solidFill>
                  <a:srgbClr val="2C4600"/>
                </a:solidFill>
                <a:latin typeface="Canva Sans"/>
                <a:ea typeface="Canva Sans"/>
                <a:cs typeface="Canva Sans"/>
                <a:sym typeface="Canva Sans"/>
              </a:rPr>
              <a:t>SCENARIO  SUMMARIES </a:t>
            </a:r>
          </a:p>
        </p:txBody>
      </p:sp>
      <p:sp>
        <p:nvSpPr>
          <p:cNvPr id="10" name="TextBox 10"/>
          <p:cNvSpPr txBox="1"/>
          <p:nvPr/>
        </p:nvSpPr>
        <p:spPr>
          <a:xfrm>
            <a:off x="6277927" y="6469380"/>
            <a:ext cx="10236848" cy="3425189"/>
          </a:xfrm>
          <a:prstGeom prst="rect">
            <a:avLst/>
          </a:prstGeom>
        </p:spPr>
        <p:txBody>
          <a:bodyPr lIns="0" tIns="0" rIns="0" bIns="0" rtlCol="0" anchor="t">
            <a:spAutoFit/>
          </a:bodyPr>
          <a:lstStyle/>
          <a:p>
            <a:pPr algn="ctr">
              <a:lnSpc>
                <a:spcPts val="5460"/>
              </a:lnSpc>
            </a:pPr>
            <a:r>
              <a:rPr lang="en-US" sz="3900">
                <a:solidFill>
                  <a:srgbClr val="2C4600"/>
                </a:solidFill>
                <a:latin typeface="Arimo"/>
                <a:ea typeface="Arimo"/>
                <a:cs typeface="Arimo"/>
                <a:sym typeface="Arimo"/>
              </a:rPr>
              <a:t>NAME:LAYOGA V </a:t>
            </a:r>
          </a:p>
          <a:p>
            <a:pPr algn="ctr">
              <a:lnSpc>
                <a:spcPts val="5460"/>
              </a:lnSpc>
            </a:pPr>
            <a:r>
              <a:rPr lang="en-US" sz="3900">
                <a:solidFill>
                  <a:srgbClr val="2C4600"/>
                </a:solidFill>
                <a:latin typeface="Arimo"/>
                <a:ea typeface="Arimo"/>
                <a:cs typeface="Arimo"/>
                <a:sym typeface="Arimo"/>
              </a:rPr>
              <a:t>COURSE: Data Analytics and Data Science</a:t>
            </a:r>
          </a:p>
          <a:p>
            <a:pPr algn="ctr">
              <a:lnSpc>
                <a:spcPts val="5460"/>
              </a:lnSpc>
            </a:pPr>
            <a:r>
              <a:rPr lang="en-US" sz="3900">
                <a:solidFill>
                  <a:srgbClr val="2C4600"/>
                </a:solidFill>
                <a:latin typeface="Arimo"/>
                <a:ea typeface="Arimo"/>
                <a:cs typeface="Arimo"/>
                <a:sym typeface="Arimo"/>
              </a:rPr>
              <a:t>DATE : 08-10-2025 </a:t>
            </a:r>
          </a:p>
          <a:p>
            <a:pPr algn="ctr">
              <a:lnSpc>
                <a:spcPts val="5460"/>
              </a:lnSpc>
            </a:pPr>
            <a:r>
              <a:rPr lang="en-US" sz="3900">
                <a:solidFill>
                  <a:srgbClr val="2C4600"/>
                </a:solidFill>
                <a:latin typeface="Arimo"/>
                <a:ea typeface="Arimo"/>
                <a:cs typeface="Arimo"/>
                <a:sym typeface="Arimo"/>
              </a:rPr>
              <a:t>BATCH: August - 2025</a:t>
            </a:r>
          </a:p>
          <a:p>
            <a:pPr algn="ctr">
              <a:lnSpc>
                <a:spcPts val="5460"/>
              </a:lnSpc>
            </a:pPr>
            <a:endParaRPr lang="en-US" sz="3900">
              <a:solidFill>
                <a:srgbClr val="2C4600"/>
              </a:solidFill>
              <a:latin typeface="Arimo"/>
              <a:ea typeface="Arimo"/>
              <a:cs typeface="Arimo"/>
              <a:sym typeface="Arimo"/>
            </a:endParaRPr>
          </a:p>
        </p:txBody>
      </p:sp>
      <p:grpSp>
        <p:nvGrpSpPr>
          <p:cNvPr id="11" name="Group 11"/>
          <p:cNvGrpSpPr/>
          <p:nvPr/>
        </p:nvGrpSpPr>
        <p:grpSpPr>
          <a:xfrm>
            <a:off x="-4164295" y="6839802"/>
            <a:ext cx="11141260" cy="12153173"/>
            <a:chOff x="0" y="0"/>
            <a:chExt cx="14855013" cy="16204230"/>
          </a:xfrm>
        </p:grpSpPr>
        <p:sp>
          <p:nvSpPr>
            <p:cNvPr id="12" name="Freeform 12"/>
            <p:cNvSpPr/>
            <p:nvPr/>
          </p:nvSpPr>
          <p:spPr>
            <a:xfrm>
              <a:off x="0" y="195992"/>
              <a:ext cx="11104787" cy="8800544"/>
            </a:xfrm>
            <a:custGeom>
              <a:avLst/>
              <a:gdLst/>
              <a:ahLst/>
              <a:cxnLst/>
              <a:rect l="l" t="t" r="r" b="b"/>
              <a:pathLst>
                <a:path w="11104787" h="8800544">
                  <a:moveTo>
                    <a:pt x="0" y="0"/>
                  </a:moveTo>
                  <a:lnTo>
                    <a:pt x="11104787" y="0"/>
                  </a:lnTo>
                  <a:lnTo>
                    <a:pt x="11104787" y="8800544"/>
                  </a:lnTo>
                  <a:lnTo>
                    <a:pt x="0" y="880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710157" y="808468"/>
              <a:ext cx="14144856" cy="15395762"/>
            </a:xfrm>
            <a:custGeom>
              <a:avLst/>
              <a:gdLst/>
              <a:ahLst/>
              <a:cxnLst/>
              <a:rect l="l" t="t" r="r" b="b"/>
              <a:pathLst>
                <a:path w="14144856" h="15395762">
                  <a:moveTo>
                    <a:pt x="0" y="0"/>
                  </a:moveTo>
                  <a:lnTo>
                    <a:pt x="14144856" y="0"/>
                  </a:lnTo>
                  <a:lnTo>
                    <a:pt x="14144856" y="15395762"/>
                  </a:lnTo>
                  <a:lnTo>
                    <a:pt x="0" y="153957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rot="-849365">
              <a:off x="5272395" y="481464"/>
              <a:ext cx="4618551" cy="5486400"/>
            </a:xfrm>
            <a:custGeom>
              <a:avLst/>
              <a:gdLst/>
              <a:ahLst/>
              <a:cxnLst/>
              <a:rect l="l" t="t" r="r" b="b"/>
              <a:pathLst>
                <a:path w="4618551" h="5486400">
                  <a:moveTo>
                    <a:pt x="0" y="0"/>
                  </a:moveTo>
                  <a:lnTo>
                    <a:pt x="4618551" y="0"/>
                  </a:lnTo>
                  <a:lnTo>
                    <a:pt x="4618551" y="5486400"/>
                  </a:lnTo>
                  <a:lnTo>
                    <a:pt x="0" y="54864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5" name="Freeform 15"/>
            <p:cNvSpPr/>
            <p:nvPr/>
          </p:nvSpPr>
          <p:spPr>
            <a:xfrm>
              <a:off x="10491710" y="1853064"/>
              <a:ext cx="3142211" cy="5486400"/>
            </a:xfrm>
            <a:custGeom>
              <a:avLst/>
              <a:gdLst/>
              <a:ahLst/>
              <a:cxnLst/>
              <a:rect l="l" t="t" r="r" b="b"/>
              <a:pathLst>
                <a:path w="3142211" h="5486400">
                  <a:moveTo>
                    <a:pt x="0" y="0"/>
                  </a:moveTo>
                  <a:lnTo>
                    <a:pt x="3142211" y="0"/>
                  </a:lnTo>
                  <a:lnTo>
                    <a:pt x="3142211" y="5486400"/>
                  </a:lnTo>
                  <a:lnTo>
                    <a:pt x="0" y="54864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4F0D8"/>
        </a:solidFill>
        <a:effectLst/>
      </p:bgPr>
    </p:bg>
    <p:spTree>
      <p:nvGrpSpPr>
        <p:cNvPr id="1" name=""/>
        <p:cNvGrpSpPr/>
        <p:nvPr/>
      </p:nvGrpSpPr>
      <p:grpSpPr>
        <a:xfrm>
          <a:off x="0" y="0"/>
          <a:ext cx="0" cy="0"/>
          <a:chOff x="0" y="0"/>
          <a:chExt cx="0" cy="0"/>
        </a:xfrm>
      </p:grpSpPr>
      <p:sp>
        <p:nvSpPr>
          <p:cNvPr id="2" name="Freeform 2"/>
          <p:cNvSpPr/>
          <p:nvPr/>
        </p:nvSpPr>
        <p:spPr>
          <a:xfrm rot="9891071">
            <a:off x="13768657" y="-4710460"/>
            <a:ext cx="8328590" cy="6600408"/>
          </a:xfrm>
          <a:custGeom>
            <a:avLst/>
            <a:gdLst/>
            <a:ahLst/>
            <a:cxnLst/>
            <a:rect l="l" t="t" r="r" b="b"/>
            <a:pathLst>
              <a:path w="8328590" h="6600408">
                <a:moveTo>
                  <a:pt x="0" y="0"/>
                </a:moveTo>
                <a:lnTo>
                  <a:pt x="8328591" y="0"/>
                </a:lnTo>
                <a:lnTo>
                  <a:pt x="8328591" y="6600407"/>
                </a:lnTo>
                <a:lnTo>
                  <a:pt x="0" y="66004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9891071">
            <a:off x="10247754" y="-9577219"/>
            <a:ext cx="10608642" cy="11546822"/>
          </a:xfrm>
          <a:custGeom>
            <a:avLst/>
            <a:gdLst/>
            <a:ahLst/>
            <a:cxnLst/>
            <a:rect l="l" t="t" r="r" b="b"/>
            <a:pathLst>
              <a:path w="10608642" h="11546822">
                <a:moveTo>
                  <a:pt x="0" y="0"/>
                </a:moveTo>
                <a:lnTo>
                  <a:pt x="10608642" y="0"/>
                </a:lnTo>
                <a:lnTo>
                  <a:pt x="10608642"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9891071">
            <a:off x="15012761" y="-14560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9891071">
            <a:off x="12402248" y="-2057400"/>
            <a:ext cx="2356658" cy="4114800"/>
          </a:xfrm>
          <a:custGeom>
            <a:avLst/>
            <a:gdLst/>
            <a:ahLst/>
            <a:cxnLst/>
            <a:rect l="l" t="t" r="r" b="b"/>
            <a:pathLst>
              <a:path w="2356658" h="4114800">
                <a:moveTo>
                  <a:pt x="0" y="0"/>
                </a:moveTo>
                <a:lnTo>
                  <a:pt x="2356658" y="0"/>
                </a:lnTo>
                <a:lnTo>
                  <a:pt x="235665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flipV="1">
            <a:off x="284175" y="-433465"/>
            <a:ext cx="1489050" cy="2519931"/>
          </a:xfrm>
          <a:custGeom>
            <a:avLst/>
            <a:gdLst/>
            <a:ahLst/>
            <a:cxnLst/>
            <a:rect l="l" t="t" r="r" b="b"/>
            <a:pathLst>
              <a:path w="1489050" h="2519931">
                <a:moveTo>
                  <a:pt x="0" y="2519931"/>
                </a:moveTo>
                <a:lnTo>
                  <a:pt x="1489050" y="2519931"/>
                </a:lnTo>
                <a:lnTo>
                  <a:pt x="1489050" y="0"/>
                </a:lnTo>
                <a:lnTo>
                  <a:pt x="0" y="0"/>
                </a:lnTo>
                <a:lnTo>
                  <a:pt x="0" y="2519931"/>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a:off x="16514775" y="8229600"/>
            <a:ext cx="1489050" cy="2519931"/>
          </a:xfrm>
          <a:custGeom>
            <a:avLst/>
            <a:gdLst/>
            <a:ahLst/>
            <a:cxnLst/>
            <a:rect l="l" t="t" r="r" b="b"/>
            <a:pathLst>
              <a:path w="1489050" h="2519931">
                <a:moveTo>
                  <a:pt x="0" y="0"/>
                </a:moveTo>
                <a:lnTo>
                  <a:pt x="1489050" y="0"/>
                </a:lnTo>
                <a:lnTo>
                  <a:pt x="1489050" y="2519931"/>
                </a:lnTo>
                <a:lnTo>
                  <a:pt x="0" y="251993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8" name="Group 8"/>
          <p:cNvGrpSpPr/>
          <p:nvPr/>
        </p:nvGrpSpPr>
        <p:grpSpPr>
          <a:xfrm>
            <a:off x="2618055" y="2615299"/>
            <a:ext cx="13051889" cy="5156417"/>
            <a:chOff x="0" y="133350"/>
            <a:chExt cx="17402519" cy="6875222"/>
          </a:xfrm>
        </p:grpSpPr>
        <p:sp>
          <p:nvSpPr>
            <p:cNvPr id="9" name="TextBox 9"/>
            <p:cNvSpPr txBox="1"/>
            <p:nvPr/>
          </p:nvSpPr>
          <p:spPr>
            <a:xfrm>
              <a:off x="133140" y="1435735"/>
              <a:ext cx="17136238" cy="1475972"/>
            </a:xfrm>
            <a:prstGeom prst="rect">
              <a:avLst/>
            </a:prstGeom>
          </p:spPr>
          <p:txBody>
            <a:bodyPr lIns="0" tIns="0" rIns="0" bIns="0" rtlCol="0" anchor="t">
              <a:spAutoFit/>
            </a:bodyPr>
            <a:lstStyle/>
            <a:p>
              <a:pPr algn="l">
                <a:lnSpc>
                  <a:spcPts val="4479"/>
                </a:lnSpc>
              </a:pPr>
              <a:r>
                <a:rPr lang="en-US" sz="3199">
                  <a:solidFill>
                    <a:srgbClr val="2C4600"/>
                  </a:solidFill>
                  <a:latin typeface="Arimo"/>
                  <a:ea typeface="Arimo"/>
                  <a:cs typeface="Arimo"/>
                  <a:sym typeface="Arimo"/>
                </a:rPr>
                <a:t>To review sales data to ﬁnd trends, understand how well products are selling, and provide useful ideas for business improvements</a:t>
              </a:r>
            </a:p>
          </p:txBody>
        </p:sp>
        <p:sp>
          <p:nvSpPr>
            <p:cNvPr id="10" name="TextBox 10"/>
            <p:cNvSpPr txBox="1"/>
            <p:nvPr/>
          </p:nvSpPr>
          <p:spPr>
            <a:xfrm>
              <a:off x="1156925" y="133350"/>
              <a:ext cx="14502455" cy="778510"/>
            </a:xfrm>
            <a:prstGeom prst="rect">
              <a:avLst/>
            </a:prstGeom>
          </p:spPr>
          <p:txBody>
            <a:bodyPr lIns="0" tIns="0" rIns="0" bIns="0" rtlCol="0" anchor="t">
              <a:spAutoFit/>
            </a:bodyPr>
            <a:lstStyle/>
            <a:p>
              <a:pPr algn="ctr">
                <a:lnSpc>
                  <a:spcPts val="3915"/>
                </a:lnSpc>
              </a:pPr>
              <a:r>
                <a:rPr lang="en-US" sz="4500" b="1">
                  <a:solidFill>
                    <a:srgbClr val="2C4600"/>
                  </a:solidFill>
                  <a:latin typeface="Century Gothic Paneuropean Bold"/>
                  <a:ea typeface="Century Gothic Paneuropean Bold"/>
                  <a:cs typeface="Century Gothic Paneuropean Bold"/>
                  <a:sym typeface="Century Gothic Paneuropean Bold"/>
                </a:rPr>
                <a:t> PROJECT OVERVIEW &amp; OBJECTIVES </a:t>
              </a:r>
            </a:p>
          </p:txBody>
        </p:sp>
        <p:sp>
          <p:nvSpPr>
            <p:cNvPr id="11" name="TextBox 11"/>
            <p:cNvSpPr txBox="1"/>
            <p:nvPr/>
          </p:nvSpPr>
          <p:spPr>
            <a:xfrm>
              <a:off x="5565840" y="3435582"/>
              <a:ext cx="5682383" cy="1000125"/>
            </a:xfrm>
            <a:prstGeom prst="rect">
              <a:avLst/>
            </a:prstGeom>
          </p:spPr>
          <p:txBody>
            <a:bodyPr wrap="square" lIns="0" tIns="0" rIns="0" bIns="0" rtlCol="0" anchor="t">
              <a:spAutoFit/>
            </a:bodyPr>
            <a:lstStyle/>
            <a:p>
              <a:pPr algn="ctr">
                <a:lnSpc>
                  <a:spcPts val="6299"/>
                </a:lnSpc>
                <a:spcBef>
                  <a:spcPct val="0"/>
                </a:spcBef>
              </a:pPr>
              <a:r>
                <a:rPr lang="en-US" sz="4500" b="1" dirty="0">
                  <a:solidFill>
                    <a:srgbClr val="2C4600"/>
                  </a:solidFill>
                  <a:latin typeface="Century Gothic Paneuropean Bold"/>
                  <a:ea typeface="Century Gothic Paneuropean Bold"/>
                  <a:cs typeface="Century Gothic Paneuropean Bold"/>
                  <a:sym typeface="Century Gothic Paneuropean Bold"/>
                </a:rPr>
                <a:t>KEY GOALS</a:t>
              </a:r>
            </a:p>
          </p:txBody>
        </p:sp>
        <p:sp>
          <p:nvSpPr>
            <p:cNvPr id="12" name="TextBox 12"/>
            <p:cNvSpPr txBox="1"/>
            <p:nvPr/>
          </p:nvSpPr>
          <p:spPr>
            <a:xfrm>
              <a:off x="0" y="4865660"/>
              <a:ext cx="17402519" cy="2142912"/>
            </a:xfrm>
            <a:prstGeom prst="rect">
              <a:avLst/>
            </a:prstGeom>
          </p:spPr>
          <p:txBody>
            <a:bodyPr lIns="0" tIns="0" rIns="0" bIns="0" rtlCol="0" anchor="t">
              <a:spAutoFit/>
            </a:bodyPr>
            <a:lstStyle/>
            <a:p>
              <a:pPr marL="669301" lvl="1" indent="-334650" algn="l">
                <a:lnSpc>
                  <a:spcPts val="4340"/>
                </a:lnSpc>
                <a:buFont typeface="Arial"/>
                <a:buChar char="•"/>
              </a:pPr>
              <a:r>
                <a:rPr lang="en-US" sz="3100">
                  <a:solidFill>
                    <a:srgbClr val="2C4600"/>
                  </a:solidFill>
                  <a:latin typeface="Arimo"/>
                  <a:ea typeface="Arimo"/>
                  <a:cs typeface="Arimo"/>
                  <a:sym typeface="Arimo"/>
                </a:rPr>
                <a:t>Examine sales patterns across different time periods.</a:t>
              </a:r>
            </a:p>
            <a:p>
              <a:pPr marL="669301" lvl="1" indent="-334650" algn="l">
                <a:lnSpc>
                  <a:spcPts val="4340"/>
                </a:lnSpc>
                <a:buFont typeface="Arial"/>
                <a:buChar char="•"/>
              </a:pPr>
              <a:r>
                <a:rPr lang="en-US" sz="3100">
                  <a:solidFill>
                    <a:srgbClr val="2C4600"/>
                  </a:solidFill>
                  <a:latin typeface="Arimo"/>
                  <a:ea typeface="Arimo"/>
                  <a:cs typeface="Arimo"/>
                  <a:sym typeface="Arimo"/>
                </a:rPr>
                <a:t>Highlight top-selling products and the most effective sales platforms.</a:t>
              </a:r>
            </a:p>
            <a:p>
              <a:pPr marL="669301" lvl="1" indent="-334650" algn="l">
                <a:lnSpc>
                  <a:spcPts val="4340"/>
                </a:lnSpc>
                <a:buFont typeface="Arial"/>
                <a:buChar char="•"/>
              </a:pPr>
              <a:r>
                <a:rPr lang="en-US" sz="3100">
                  <a:solidFill>
                    <a:srgbClr val="2C4600"/>
                  </a:solidFill>
                  <a:latin typeface="Arimo"/>
                  <a:ea typeface="Arimo"/>
                  <a:cs typeface="Arimo"/>
                  <a:sym typeface="Arimo"/>
                </a:rPr>
                <a:t>Assess how returns and discount strategies affect overall revenue.</a:t>
              </a:r>
            </a:p>
          </p:txBody>
        </p:sp>
      </p:grpSp>
      <p:grpSp>
        <p:nvGrpSpPr>
          <p:cNvPr id="13" name="Group 13"/>
          <p:cNvGrpSpPr/>
          <p:nvPr/>
        </p:nvGrpSpPr>
        <p:grpSpPr>
          <a:xfrm>
            <a:off x="-4164295" y="6839802"/>
            <a:ext cx="11141260" cy="12153173"/>
            <a:chOff x="0" y="0"/>
            <a:chExt cx="14855013" cy="16204230"/>
          </a:xfrm>
        </p:grpSpPr>
        <p:sp>
          <p:nvSpPr>
            <p:cNvPr id="14" name="Freeform 14"/>
            <p:cNvSpPr/>
            <p:nvPr/>
          </p:nvSpPr>
          <p:spPr>
            <a:xfrm>
              <a:off x="0" y="195992"/>
              <a:ext cx="11104787" cy="8800544"/>
            </a:xfrm>
            <a:custGeom>
              <a:avLst/>
              <a:gdLst/>
              <a:ahLst/>
              <a:cxnLst/>
              <a:rect l="l" t="t" r="r" b="b"/>
              <a:pathLst>
                <a:path w="11104787" h="8800544">
                  <a:moveTo>
                    <a:pt x="0" y="0"/>
                  </a:moveTo>
                  <a:lnTo>
                    <a:pt x="11104787" y="0"/>
                  </a:lnTo>
                  <a:lnTo>
                    <a:pt x="11104787" y="8800544"/>
                  </a:lnTo>
                  <a:lnTo>
                    <a:pt x="0" y="880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a:off x="710157" y="808468"/>
              <a:ext cx="14144856" cy="15395762"/>
            </a:xfrm>
            <a:custGeom>
              <a:avLst/>
              <a:gdLst/>
              <a:ahLst/>
              <a:cxnLst/>
              <a:rect l="l" t="t" r="r" b="b"/>
              <a:pathLst>
                <a:path w="14144856" h="15395762">
                  <a:moveTo>
                    <a:pt x="0" y="0"/>
                  </a:moveTo>
                  <a:lnTo>
                    <a:pt x="14144856" y="0"/>
                  </a:lnTo>
                  <a:lnTo>
                    <a:pt x="14144856" y="15395762"/>
                  </a:lnTo>
                  <a:lnTo>
                    <a:pt x="0" y="153957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rot="-849365">
              <a:off x="5272395" y="481464"/>
              <a:ext cx="4618551" cy="5486400"/>
            </a:xfrm>
            <a:custGeom>
              <a:avLst/>
              <a:gdLst/>
              <a:ahLst/>
              <a:cxnLst/>
              <a:rect l="l" t="t" r="r" b="b"/>
              <a:pathLst>
                <a:path w="4618551" h="5486400">
                  <a:moveTo>
                    <a:pt x="0" y="0"/>
                  </a:moveTo>
                  <a:lnTo>
                    <a:pt x="4618551" y="0"/>
                  </a:lnTo>
                  <a:lnTo>
                    <a:pt x="4618551" y="5486400"/>
                  </a:lnTo>
                  <a:lnTo>
                    <a:pt x="0" y="54864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7" name="Freeform 17"/>
            <p:cNvSpPr/>
            <p:nvPr/>
          </p:nvSpPr>
          <p:spPr>
            <a:xfrm>
              <a:off x="10491710" y="1853064"/>
              <a:ext cx="3142211" cy="5486400"/>
            </a:xfrm>
            <a:custGeom>
              <a:avLst/>
              <a:gdLst/>
              <a:ahLst/>
              <a:cxnLst/>
              <a:rect l="l" t="t" r="r" b="b"/>
              <a:pathLst>
                <a:path w="3142211" h="5486400">
                  <a:moveTo>
                    <a:pt x="0" y="0"/>
                  </a:moveTo>
                  <a:lnTo>
                    <a:pt x="3142211" y="0"/>
                  </a:lnTo>
                  <a:lnTo>
                    <a:pt x="3142211" y="5486400"/>
                  </a:lnTo>
                  <a:lnTo>
                    <a:pt x="0" y="54864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4F0D8"/>
        </a:solidFill>
        <a:effectLst/>
      </p:bgPr>
    </p:bg>
    <p:spTree>
      <p:nvGrpSpPr>
        <p:cNvPr id="1" name=""/>
        <p:cNvGrpSpPr/>
        <p:nvPr/>
      </p:nvGrpSpPr>
      <p:grpSpPr>
        <a:xfrm>
          <a:off x="0" y="0"/>
          <a:ext cx="0" cy="0"/>
          <a:chOff x="0" y="0"/>
          <a:chExt cx="0" cy="0"/>
        </a:xfrm>
      </p:grpSpPr>
      <p:sp>
        <p:nvSpPr>
          <p:cNvPr id="2" name="Freeform 2"/>
          <p:cNvSpPr/>
          <p:nvPr/>
        </p:nvSpPr>
        <p:spPr>
          <a:xfrm rot="9891071">
            <a:off x="13768657" y="-4710460"/>
            <a:ext cx="8328590" cy="6600408"/>
          </a:xfrm>
          <a:custGeom>
            <a:avLst/>
            <a:gdLst/>
            <a:ahLst/>
            <a:cxnLst/>
            <a:rect l="l" t="t" r="r" b="b"/>
            <a:pathLst>
              <a:path w="8328590" h="6600408">
                <a:moveTo>
                  <a:pt x="0" y="0"/>
                </a:moveTo>
                <a:lnTo>
                  <a:pt x="8328591" y="0"/>
                </a:lnTo>
                <a:lnTo>
                  <a:pt x="8328591" y="6600407"/>
                </a:lnTo>
                <a:lnTo>
                  <a:pt x="0" y="66004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9891071">
            <a:off x="10247754" y="-9577219"/>
            <a:ext cx="10608642" cy="11546822"/>
          </a:xfrm>
          <a:custGeom>
            <a:avLst/>
            <a:gdLst/>
            <a:ahLst/>
            <a:cxnLst/>
            <a:rect l="l" t="t" r="r" b="b"/>
            <a:pathLst>
              <a:path w="10608642" h="11546822">
                <a:moveTo>
                  <a:pt x="0" y="0"/>
                </a:moveTo>
                <a:lnTo>
                  <a:pt x="10608642" y="0"/>
                </a:lnTo>
                <a:lnTo>
                  <a:pt x="10608642"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9891071">
            <a:off x="15012761" y="-14560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9891071">
            <a:off x="12402248" y="-2057400"/>
            <a:ext cx="2356658" cy="4114800"/>
          </a:xfrm>
          <a:custGeom>
            <a:avLst/>
            <a:gdLst/>
            <a:ahLst/>
            <a:cxnLst/>
            <a:rect l="l" t="t" r="r" b="b"/>
            <a:pathLst>
              <a:path w="2356658" h="4114800">
                <a:moveTo>
                  <a:pt x="0" y="0"/>
                </a:moveTo>
                <a:lnTo>
                  <a:pt x="2356658" y="0"/>
                </a:lnTo>
                <a:lnTo>
                  <a:pt x="235665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6514775" y="8229600"/>
            <a:ext cx="1489050" cy="2519931"/>
          </a:xfrm>
          <a:custGeom>
            <a:avLst/>
            <a:gdLst/>
            <a:ahLst/>
            <a:cxnLst/>
            <a:rect l="l" t="t" r="r" b="b"/>
            <a:pathLst>
              <a:path w="1489050" h="2519931">
                <a:moveTo>
                  <a:pt x="0" y="0"/>
                </a:moveTo>
                <a:lnTo>
                  <a:pt x="1489050" y="0"/>
                </a:lnTo>
                <a:lnTo>
                  <a:pt x="1489050" y="2519931"/>
                </a:lnTo>
                <a:lnTo>
                  <a:pt x="0" y="251993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flipV="1">
            <a:off x="284175" y="-433465"/>
            <a:ext cx="1489050" cy="2519931"/>
          </a:xfrm>
          <a:custGeom>
            <a:avLst/>
            <a:gdLst/>
            <a:ahLst/>
            <a:cxnLst/>
            <a:rect l="l" t="t" r="r" b="b"/>
            <a:pathLst>
              <a:path w="1489050" h="2519931">
                <a:moveTo>
                  <a:pt x="0" y="2519931"/>
                </a:moveTo>
                <a:lnTo>
                  <a:pt x="1489050" y="2519931"/>
                </a:lnTo>
                <a:lnTo>
                  <a:pt x="1489050" y="0"/>
                </a:lnTo>
                <a:lnTo>
                  <a:pt x="0" y="0"/>
                </a:lnTo>
                <a:lnTo>
                  <a:pt x="0" y="2519931"/>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8" name="Group 8"/>
          <p:cNvGrpSpPr/>
          <p:nvPr/>
        </p:nvGrpSpPr>
        <p:grpSpPr>
          <a:xfrm>
            <a:off x="1773225" y="1905462"/>
            <a:ext cx="13603254" cy="6923339"/>
            <a:chOff x="0" y="0"/>
            <a:chExt cx="18137672" cy="9231119"/>
          </a:xfrm>
        </p:grpSpPr>
        <p:sp>
          <p:nvSpPr>
            <p:cNvPr id="9" name="TextBox 9"/>
            <p:cNvSpPr txBox="1"/>
            <p:nvPr/>
          </p:nvSpPr>
          <p:spPr>
            <a:xfrm>
              <a:off x="0" y="133350"/>
              <a:ext cx="7972696" cy="778510"/>
            </a:xfrm>
            <a:prstGeom prst="rect">
              <a:avLst/>
            </a:prstGeom>
          </p:spPr>
          <p:txBody>
            <a:bodyPr lIns="0" tIns="0" rIns="0" bIns="0" rtlCol="0" anchor="t">
              <a:spAutoFit/>
            </a:bodyPr>
            <a:lstStyle/>
            <a:p>
              <a:pPr algn="ctr">
                <a:lnSpc>
                  <a:spcPts val="3915"/>
                </a:lnSpc>
              </a:pPr>
              <a:r>
                <a:rPr lang="en-US" sz="4500" b="1">
                  <a:solidFill>
                    <a:srgbClr val="2C4600"/>
                  </a:solidFill>
                  <a:latin typeface="Century Gothic Paneuropean Bold"/>
                  <a:ea typeface="Century Gothic Paneuropean Bold"/>
                  <a:cs typeface="Century Gothic Paneuropean Bold"/>
                  <a:sym typeface="Century Gothic Paneuropean Bold"/>
                </a:rPr>
                <a:t> DATASET OVERVIEW: </a:t>
              </a:r>
            </a:p>
          </p:txBody>
        </p:sp>
        <p:sp>
          <p:nvSpPr>
            <p:cNvPr id="10" name="TextBox 10"/>
            <p:cNvSpPr txBox="1"/>
            <p:nvPr/>
          </p:nvSpPr>
          <p:spPr>
            <a:xfrm>
              <a:off x="1746872" y="1674611"/>
              <a:ext cx="16390799" cy="695112"/>
            </a:xfrm>
            <a:prstGeom prst="rect">
              <a:avLst/>
            </a:prstGeom>
          </p:spPr>
          <p:txBody>
            <a:bodyPr lIns="0" tIns="0" rIns="0" bIns="0" rtlCol="0" anchor="t">
              <a:spAutoFit/>
            </a:bodyPr>
            <a:lstStyle/>
            <a:p>
              <a:pPr algn="ctr">
                <a:lnSpc>
                  <a:spcPts val="4340"/>
                </a:lnSpc>
              </a:pPr>
              <a:r>
                <a:rPr lang="en-US" sz="3100">
                  <a:solidFill>
                    <a:srgbClr val="2C4600"/>
                  </a:solidFill>
                  <a:latin typeface="Arimo"/>
                  <a:ea typeface="Arimo"/>
                  <a:cs typeface="Arimo"/>
                  <a:sym typeface="Arimo"/>
                </a:rPr>
                <a:t>9900+ rows, columns such as Order ID, Sale ID, Product Type, etc. </a:t>
              </a:r>
            </a:p>
          </p:txBody>
        </p:sp>
        <p:sp>
          <p:nvSpPr>
            <p:cNvPr id="11" name="TextBox 11"/>
            <p:cNvSpPr txBox="1"/>
            <p:nvPr/>
          </p:nvSpPr>
          <p:spPr>
            <a:xfrm>
              <a:off x="0" y="2994997"/>
              <a:ext cx="10526174" cy="778510"/>
            </a:xfrm>
            <a:prstGeom prst="rect">
              <a:avLst/>
            </a:prstGeom>
          </p:spPr>
          <p:txBody>
            <a:bodyPr lIns="0" tIns="0" rIns="0" bIns="0" rtlCol="0" anchor="t">
              <a:spAutoFit/>
            </a:bodyPr>
            <a:lstStyle/>
            <a:p>
              <a:pPr algn="ctr">
                <a:lnSpc>
                  <a:spcPts val="3915"/>
                </a:lnSpc>
              </a:pPr>
              <a:r>
                <a:rPr lang="en-US" sz="4500" b="1">
                  <a:solidFill>
                    <a:srgbClr val="2C4600"/>
                  </a:solidFill>
                  <a:latin typeface="Century Gothic Paneuropean Bold"/>
                  <a:ea typeface="Century Gothic Paneuropean Bold"/>
                  <a:cs typeface="Century Gothic Paneuropean Bold"/>
                  <a:sym typeface="Century Gothic Paneuropean Bold"/>
                </a:rPr>
                <a:t>DATA CLEANING PROCESS:</a:t>
              </a:r>
            </a:p>
          </p:txBody>
        </p:sp>
        <p:sp>
          <p:nvSpPr>
            <p:cNvPr id="12" name="TextBox 12"/>
            <p:cNvSpPr txBox="1"/>
            <p:nvPr/>
          </p:nvSpPr>
          <p:spPr>
            <a:xfrm>
              <a:off x="1746872" y="4192607"/>
              <a:ext cx="16219564" cy="5038512"/>
            </a:xfrm>
            <a:prstGeom prst="rect">
              <a:avLst/>
            </a:prstGeom>
          </p:spPr>
          <p:txBody>
            <a:bodyPr lIns="0" tIns="0" rIns="0" bIns="0" rtlCol="0" anchor="t">
              <a:spAutoFit/>
            </a:bodyPr>
            <a:lstStyle/>
            <a:p>
              <a:pPr marL="669301" lvl="1" indent="-334650" algn="l">
                <a:lnSpc>
                  <a:spcPts val="4340"/>
                </a:lnSpc>
                <a:buFont typeface="Arial"/>
                <a:buChar char="•"/>
              </a:pPr>
              <a:r>
                <a:rPr lang="en-US" sz="3100">
                  <a:solidFill>
                    <a:srgbClr val="2C4600"/>
                  </a:solidFill>
                  <a:latin typeface="Arimo"/>
                  <a:ea typeface="Arimo"/>
                  <a:cs typeface="Arimo"/>
                  <a:sym typeface="Arimo"/>
                </a:rPr>
                <a:t>Data Formatting like dd-mm-yyyy</a:t>
              </a:r>
            </a:p>
            <a:p>
              <a:pPr marL="669301" lvl="1" indent="-334650" algn="l">
                <a:lnSpc>
                  <a:spcPts val="4340"/>
                </a:lnSpc>
                <a:buFont typeface="Arial"/>
                <a:buChar char="•"/>
              </a:pPr>
              <a:r>
                <a:rPr lang="en-US" sz="3100">
                  <a:solidFill>
                    <a:srgbClr val="2C4600"/>
                  </a:solidFill>
                  <a:latin typeface="Arimo"/>
                  <a:ea typeface="Arimo"/>
                  <a:cs typeface="Arimo"/>
                  <a:sym typeface="Arimo"/>
                </a:rPr>
                <a:t>Remove duplicates</a:t>
              </a:r>
            </a:p>
            <a:p>
              <a:pPr marL="669301" lvl="1" indent="-334650" algn="l">
                <a:lnSpc>
                  <a:spcPts val="4340"/>
                </a:lnSpc>
                <a:buFont typeface="Arial"/>
                <a:buChar char="•"/>
              </a:pPr>
              <a:r>
                <a:rPr lang="en-US" sz="3100">
                  <a:solidFill>
                    <a:srgbClr val="2C4600"/>
                  </a:solidFill>
                  <a:latin typeface="Arimo"/>
                  <a:ea typeface="Arimo"/>
                  <a:cs typeface="Arimo"/>
                  <a:sym typeface="Arimo"/>
                </a:rPr>
                <a:t>Discount as percentage(%)</a:t>
              </a:r>
            </a:p>
            <a:p>
              <a:pPr marL="669301" lvl="1" indent="-334650" algn="l">
                <a:lnSpc>
                  <a:spcPts val="4340"/>
                </a:lnSpc>
                <a:buFont typeface="Arial"/>
                <a:buChar char="•"/>
              </a:pPr>
              <a:r>
                <a:rPr lang="en-US" sz="3100">
                  <a:solidFill>
                    <a:srgbClr val="2C4600"/>
                  </a:solidFill>
                  <a:latin typeface="Arimo"/>
                  <a:ea typeface="Arimo"/>
                  <a:cs typeface="Arimo"/>
                  <a:sym typeface="Arimo"/>
                </a:rPr>
                <a:t>Profit as Currency($)</a:t>
              </a:r>
            </a:p>
            <a:p>
              <a:pPr marL="669301" lvl="1" indent="-334650" algn="l">
                <a:lnSpc>
                  <a:spcPts val="4340"/>
                </a:lnSpc>
                <a:buFont typeface="Arial"/>
                <a:buChar char="•"/>
              </a:pPr>
              <a:r>
                <a:rPr lang="en-US" sz="3100">
                  <a:solidFill>
                    <a:srgbClr val="2C4600"/>
                  </a:solidFill>
                  <a:latin typeface="Arimo"/>
                  <a:ea typeface="Arimo"/>
                  <a:cs typeface="Arimo"/>
                  <a:sym typeface="Arimo"/>
                </a:rPr>
                <a:t>Numerical as correction of 2 decimal values</a:t>
              </a:r>
            </a:p>
            <a:p>
              <a:pPr marL="669301" lvl="1" indent="-334650" algn="l">
                <a:lnSpc>
                  <a:spcPts val="4340"/>
                </a:lnSpc>
                <a:buFont typeface="Arial"/>
                <a:buChar char="•"/>
              </a:pPr>
              <a:r>
                <a:rPr lang="en-US" sz="3100">
                  <a:solidFill>
                    <a:srgbClr val="2C4600"/>
                  </a:solidFill>
                  <a:latin typeface="Arimo"/>
                  <a:ea typeface="Arimo"/>
                  <a:cs typeface="Arimo"/>
                  <a:sym typeface="Arimo"/>
                </a:rPr>
                <a:t>Remove blanks and duplicates values</a:t>
              </a:r>
            </a:p>
            <a:p>
              <a:pPr marL="669301" lvl="1" indent="-334650" algn="l">
                <a:lnSpc>
                  <a:spcPts val="4340"/>
                </a:lnSpc>
                <a:buFont typeface="Arial"/>
                <a:buChar char="•"/>
              </a:pPr>
              <a:r>
                <a:rPr lang="en-US" sz="3100">
                  <a:solidFill>
                    <a:srgbClr val="2C4600"/>
                  </a:solidFill>
                  <a:latin typeface="Arimo"/>
                  <a:ea typeface="Arimo"/>
                  <a:cs typeface="Arimo"/>
                  <a:sym typeface="Arimo"/>
                </a:rPr>
                <a:t>Using conditional formatting </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4F0D8"/>
        </a:solidFill>
        <a:effectLst/>
      </p:bgPr>
    </p:bg>
    <p:spTree>
      <p:nvGrpSpPr>
        <p:cNvPr id="1" name=""/>
        <p:cNvGrpSpPr/>
        <p:nvPr/>
      </p:nvGrpSpPr>
      <p:grpSpPr>
        <a:xfrm>
          <a:off x="0" y="0"/>
          <a:ext cx="0" cy="0"/>
          <a:chOff x="0" y="0"/>
          <a:chExt cx="0" cy="0"/>
        </a:xfrm>
      </p:grpSpPr>
      <p:sp>
        <p:nvSpPr>
          <p:cNvPr id="2" name="Freeform 2"/>
          <p:cNvSpPr/>
          <p:nvPr/>
        </p:nvSpPr>
        <p:spPr>
          <a:xfrm>
            <a:off x="16514775" y="8413828"/>
            <a:ext cx="1489050" cy="2519931"/>
          </a:xfrm>
          <a:custGeom>
            <a:avLst/>
            <a:gdLst/>
            <a:ahLst/>
            <a:cxnLst/>
            <a:rect l="l" t="t" r="r" b="b"/>
            <a:pathLst>
              <a:path w="1489050" h="2519931">
                <a:moveTo>
                  <a:pt x="0" y="0"/>
                </a:moveTo>
                <a:lnTo>
                  <a:pt x="1489050" y="0"/>
                </a:lnTo>
                <a:lnTo>
                  <a:pt x="1489050" y="2519930"/>
                </a:lnTo>
                <a:lnTo>
                  <a:pt x="0" y="25199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284175" y="-618158"/>
            <a:ext cx="1489050" cy="2519931"/>
          </a:xfrm>
          <a:custGeom>
            <a:avLst/>
            <a:gdLst/>
            <a:ahLst/>
            <a:cxnLst/>
            <a:rect l="l" t="t" r="r" b="b"/>
            <a:pathLst>
              <a:path w="1489050" h="2519931">
                <a:moveTo>
                  <a:pt x="0" y="2519931"/>
                </a:moveTo>
                <a:lnTo>
                  <a:pt x="1489050" y="2519931"/>
                </a:lnTo>
                <a:lnTo>
                  <a:pt x="1489050" y="0"/>
                </a:lnTo>
                <a:lnTo>
                  <a:pt x="0" y="0"/>
                </a:lnTo>
                <a:lnTo>
                  <a:pt x="0" y="2519931"/>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678411" y="3155140"/>
            <a:ext cx="8011686" cy="4877688"/>
            <a:chOff x="0" y="0"/>
            <a:chExt cx="1241220" cy="755681"/>
          </a:xfrm>
        </p:grpSpPr>
        <p:sp>
          <p:nvSpPr>
            <p:cNvPr id="5" name="Freeform 5"/>
            <p:cNvSpPr/>
            <p:nvPr/>
          </p:nvSpPr>
          <p:spPr>
            <a:xfrm>
              <a:off x="0" y="0"/>
              <a:ext cx="1241220" cy="755681"/>
            </a:xfrm>
            <a:custGeom>
              <a:avLst/>
              <a:gdLst/>
              <a:ahLst/>
              <a:cxnLst/>
              <a:rect l="l" t="t" r="r" b="b"/>
              <a:pathLst>
                <a:path w="1241220" h="755681">
                  <a:moveTo>
                    <a:pt x="0" y="0"/>
                  </a:moveTo>
                  <a:lnTo>
                    <a:pt x="1241220" y="0"/>
                  </a:lnTo>
                  <a:lnTo>
                    <a:pt x="1241220" y="755681"/>
                  </a:lnTo>
                  <a:lnTo>
                    <a:pt x="0" y="755681"/>
                  </a:lnTo>
                  <a:close/>
                </a:path>
              </a:pathLst>
            </a:custGeom>
            <a:blipFill>
              <a:blip r:embed="rId4"/>
              <a:stretch>
                <a:fillRect l="-4117" r="-4117"/>
              </a:stretch>
            </a:blipFill>
          </p:spPr>
        </p:sp>
      </p:grpSp>
      <p:grpSp>
        <p:nvGrpSpPr>
          <p:cNvPr id="6" name="Group 6"/>
          <p:cNvGrpSpPr/>
          <p:nvPr/>
        </p:nvGrpSpPr>
        <p:grpSpPr>
          <a:xfrm>
            <a:off x="9010920" y="3155140"/>
            <a:ext cx="8773200" cy="4877688"/>
            <a:chOff x="0" y="0"/>
            <a:chExt cx="1393010" cy="774480"/>
          </a:xfrm>
        </p:grpSpPr>
        <p:sp>
          <p:nvSpPr>
            <p:cNvPr id="7" name="Freeform 7"/>
            <p:cNvSpPr/>
            <p:nvPr/>
          </p:nvSpPr>
          <p:spPr>
            <a:xfrm>
              <a:off x="0" y="0"/>
              <a:ext cx="1393010" cy="774480"/>
            </a:xfrm>
            <a:custGeom>
              <a:avLst/>
              <a:gdLst/>
              <a:ahLst/>
              <a:cxnLst/>
              <a:rect l="l" t="t" r="r" b="b"/>
              <a:pathLst>
                <a:path w="1393010" h="774480">
                  <a:moveTo>
                    <a:pt x="0" y="0"/>
                  </a:moveTo>
                  <a:lnTo>
                    <a:pt x="1393010" y="0"/>
                  </a:lnTo>
                  <a:lnTo>
                    <a:pt x="1393010" y="774480"/>
                  </a:lnTo>
                  <a:lnTo>
                    <a:pt x="0" y="774480"/>
                  </a:lnTo>
                  <a:close/>
                </a:path>
              </a:pathLst>
            </a:custGeom>
            <a:blipFill>
              <a:blip r:embed="rId5"/>
              <a:stretch>
                <a:fillRect l="-68" r="-2271" b="-3540"/>
              </a:stretch>
            </a:blipFill>
          </p:spPr>
        </p:sp>
      </p:grpSp>
      <p:sp>
        <p:nvSpPr>
          <p:cNvPr id="8" name="TextBox 8"/>
          <p:cNvSpPr txBox="1"/>
          <p:nvPr/>
        </p:nvSpPr>
        <p:spPr>
          <a:xfrm>
            <a:off x="2435423" y="2219816"/>
            <a:ext cx="4497663" cy="550545"/>
          </a:xfrm>
          <a:prstGeom prst="rect">
            <a:avLst/>
          </a:prstGeom>
        </p:spPr>
        <p:txBody>
          <a:bodyPr lIns="0" tIns="0" rIns="0" bIns="0" rtlCol="0" anchor="t">
            <a:spAutoFit/>
          </a:bodyPr>
          <a:lstStyle/>
          <a:p>
            <a:pPr algn="ctr">
              <a:lnSpc>
                <a:spcPts val="3915"/>
              </a:lnSpc>
            </a:pPr>
            <a:r>
              <a:rPr lang="en-US" sz="4500" b="1">
                <a:solidFill>
                  <a:srgbClr val="2C4600"/>
                </a:solidFill>
                <a:latin typeface="Century Gothic Paneuropean Bold"/>
                <a:ea typeface="Century Gothic Paneuropean Bold"/>
                <a:cs typeface="Century Gothic Paneuropean Bold"/>
                <a:sym typeface="Century Gothic Paneuropean Bold"/>
              </a:rPr>
              <a:t>RAW DATA</a:t>
            </a:r>
          </a:p>
        </p:txBody>
      </p:sp>
      <p:sp>
        <p:nvSpPr>
          <p:cNvPr id="9" name="TextBox 9"/>
          <p:cNvSpPr txBox="1"/>
          <p:nvPr/>
        </p:nvSpPr>
        <p:spPr>
          <a:xfrm>
            <a:off x="11199341" y="2219816"/>
            <a:ext cx="4890480" cy="550545"/>
          </a:xfrm>
          <a:prstGeom prst="rect">
            <a:avLst/>
          </a:prstGeom>
        </p:spPr>
        <p:txBody>
          <a:bodyPr lIns="0" tIns="0" rIns="0" bIns="0" rtlCol="0" anchor="t">
            <a:spAutoFit/>
          </a:bodyPr>
          <a:lstStyle/>
          <a:p>
            <a:pPr algn="ctr">
              <a:lnSpc>
                <a:spcPts val="3915"/>
              </a:lnSpc>
            </a:pPr>
            <a:r>
              <a:rPr lang="en-US" sz="4500" b="1">
                <a:solidFill>
                  <a:srgbClr val="2C4600"/>
                </a:solidFill>
                <a:latin typeface="Century Gothic Paneuropean Bold"/>
                <a:ea typeface="Century Gothic Paneuropean Bold"/>
                <a:cs typeface="Century Gothic Paneuropean Bold"/>
                <a:sym typeface="Century Gothic Paneuropean Bold"/>
              </a:rPr>
              <a:t>CLEANED DATA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4F0D8"/>
        </a:solidFill>
        <a:effectLst/>
      </p:bgPr>
    </p:bg>
    <p:spTree>
      <p:nvGrpSpPr>
        <p:cNvPr id="1" name=""/>
        <p:cNvGrpSpPr/>
        <p:nvPr/>
      </p:nvGrpSpPr>
      <p:grpSpPr>
        <a:xfrm>
          <a:off x="0" y="0"/>
          <a:ext cx="0" cy="0"/>
          <a:chOff x="0" y="0"/>
          <a:chExt cx="0" cy="0"/>
        </a:xfrm>
      </p:grpSpPr>
      <p:sp>
        <p:nvSpPr>
          <p:cNvPr id="2" name="Freeform 2"/>
          <p:cNvSpPr/>
          <p:nvPr/>
        </p:nvSpPr>
        <p:spPr>
          <a:xfrm rot="9891071">
            <a:off x="13768657" y="-4710460"/>
            <a:ext cx="8328590" cy="6600408"/>
          </a:xfrm>
          <a:custGeom>
            <a:avLst/>
            <a:gdLst/>
            <a:ahLst/>
            <a:cxnLst/>
            <a:rect l="l" t="t" r="r" b="b"/>
            <a:pathLst>
              <a:path w="8328590" h="6600408">
                <a:moveTo>
                  <a:pt x="0" y="0"/>
                </a:moveTo>
                <a:lnTo>
                  <a:pt x="8328591" y="0"/>
                </a:lnTo>
                <a:lnTo>
                  <a:pt x="8328591" y="6600407"/>
                </a:lnTo>
                <a:lnTo>
                  <a:pt x="0" y="66004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9891071">
            <a:off x="10247754" y="-9577219"/>
            <a:ext cx="10608642" cy="11546822"/>
          </a:xfrm>
          <a:custGeom>
            <a:avLst/>
            <a:gdLst/>
            <a:ahLst/>
            <a:cxnLst/>
            <a:rect l="l" t="t" r="r" b="b"/>
            <a:pathLst>
              <a:path w="10608642" h="11546822">
                <a:moveTo>
                  <a:pt x="0" y="0"/>
                </a:moveTo>
                <a:lnTo>
                  <a:pt x="10608642" y="0"/>
                </a:lnTo>
                <a:lnTo>
                  <a:pt x="10608642"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9891071">
            <a:off x="15012761" y="-14560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9891071">
            <a:off x="12402248" y="-2057400"/>
            <a:ext cx="2356658" cy="4114800"/>
          </a:xfrm>
          <a:custGeom>
            <a:avLst/>
            <a:gdLst/>
            <a:ahLst/>
            <a:cxnLst/>
            <a:rect l="l" t="t" r="r" b="b"/>
            <a:pathLst>
              <a:path w="2356658" h="4114800">
                <a:moveTo>
                  <a:pt x="0" y="0"/>
                </a:moveTo>
                <a:lnTo>
                  <a:pt x="2356658" y="0"/>
                </a:lnTo>
                <a:lnTo>
                  <a:pt x="235665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6514775" y="8229600"/>
            <a:ext cx="1489050" cy="2519931"/>
          </a:xfrm>
          <a:custGeom>
            <a:avLst/>
            <a:gdLst/>
            <a:ahLst/>
            <a:cxnLst/>
            <a:rect l="l" t="t" r="r" b="b"/>
            <a:pathLst>
              <a:path w="1489050" h="2519931">
                <a:moveTo>
                  <a:pt x="0" y="0"/>
                </a:moveTo>
                <a:lnTo>
                  <a:pt x="1489050" y="0"/>
                </a:lnTo>
                <a:lnTo>
                  <a:pt x="1489050" y="2519931"/>
                </a:lnTo>
                <a:lnTo>
                  <a:pt x="0" y="251993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flipV="1">
            <a:off x="284175" y="-433465"/>
            <a:ext cx="1489050" cy="2519931"/>
          </a:xfrm>
          <a:custGeom>
            <a:avLst/>
            <a:gdLst/>
            <a:ahLst/>
            <a:cxnLst/>
            <a:rect l="l" t="t" r="r" b="b"/>
            <a:pathLst>
              <a:path w="1489050" h="2519931">
                <a:moveTo>
                  <a:pt x="0" y="2519931"/>
                </a:moveTo>
                <a:lnTo>
                  <a:pt x="1489050" y="2519931"/>
                </a:lnTo>
                <a:lnTo>
                  <a:pt x="1489050" y="0"/>
                </a:lnTo>
                <a:lnTo>
                  <a:pt x="0" y="0"/>
                </a:lnTo>
                <a:lnTo>
                  <a:pt x="0" y="2519931"/>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8" name="Group 8"/>
          <p:cNvGrpSpPr/>
          <p:nvPr/>
        </p:nvGrpSpPr>
        <p:grpSpPr>
          <a:xfrm>
            <a:off x="1570852" y="1649997"/>
            <a:ext cx="14704956" cy="7412626"/>
            <a:chOff x="0" y="0"/>
            <a:chExt cx="19606608" cy="9883501"/>
          </a:xfrm>
        </p:grpSpPr>
        <p:sp>
          <p:nvSpPr>
            <p:cNvPr id="9" name="TextBox 9"/>
            <p:cNvSpPr txBox="1"/>
            <p:nvPr/>
          </p:nvSpPr>
          <p:spPr>
            <a:xfrm>
              <a:off x="0" y="133350"/>
              <a:ext cx="13175038" cy="778510"/>
            </a:xfrm>
            <a:prstGeom prst="rect">
              <a:avLst/>
            </a:prstGeom>
          </p:spPr>
          <p:txBody>
            <a:bodyPr lIns="0" tIns="0" rIns="0" bIns="0" rtlCol="0" anchor="t">
              <a:spAutoFit/>
            </a:bodyPr>
            <a:lstStyle/>
            <a:p>
              <a:pPr algn="ctr">
                <a:lnSpc>
                  <a:spcPts val="3915"/>
                </a:lnSpc>
              </a:pPr>
              <a:r>
                <a:rPr lang="en-US" sz="4500" b="1">
                  <a:solidFill>
                    <a:srgbClr val="2C4600"/>
                  </a:solidFill>
                  <a:latin typeface="Century Gothic Paneuropean Bold"/>
                  <a:ea typeface="Century Gothic Paneuropean Bold"/>
                  <a:cs typeface="Century Gothic Paneuropean Bold"/>
                  <a:sym typeface="Century Gothic Paneuropean Bold"/>
                </a:rPr>
                <a:t>INSIGHTS AND RECOMMENDATIONS </a:t>
              </a:r>
            </a:p>
          </p:txBody>
        </p:sp>
        <p:sp>
          <p:nvSpPr>
            <p:cNvPr id="10" name="TextBox 10"/>
            <p:cNvSpPr txBox="1"/>
            <p:nvPr/>
          </p:nvSpPr>
          <p:spPr>
            <a:xfrm>
              <a:off x="595166" y="1374501"/>
              <a:ext cx="19011442" cy="8509000"/>
            </a:xfrm>
            <a:prstGeom prst="rect">
              <a:avLst/>
            </a:prstGeom>
          </p:spPr>
          <p:txBody>
            <a:bodyPr lIns="0" tIns="0" rIns="0" bIns="0" rtlCol="0" anchor="t">
              <a:spAutoFit/>
            </a:bodyPr>
            <a:lstStyle/>
            <a:p>
              <a:pPr algn="l">
                <a:lnSpc>
                  <a:spcPts val="4200"/>
                </a:lnSpc>
              </a:pPr>
              <a:r>
                <a:rPr lang="en-US" sz="3000" b="1">
                  <a:solidFill>
                    <a:srgbClr val="2C4600"/>
                  </a:solidFill>
                  <a:latin typeface="Arimo Bold"/>
                  <a:ea typeface="Arimo Bold"/>
                  <a:cs typeface="Arimo Bold"/>
                  <a:sym typeface="Arimo Bold"/>
                </a:rPr>
                <a:t>Best-Performing Channels &amp; Products:</a:t>
              </a:r>
            </a:p>
            <a:p>
              <a:pPr marL="647700" lvl="1" indent="-323850" algn="l">
                <a:lnSpc>
                  <a:spcPts val="4200"/>
                </a:lnSpc>
                <a:buFont typeface="Arial"/>
                <a:buChar char="•"/>
              </a:pPr>
              <a:r>
                <a:rPr lang="en-US" sz="3000">
                  <a:solidFill>
                    <a:srgbClr val="2C4600"/>
                  </a:solidFill>
                  <a:latin typeface="Arimo"/>
                  <a:ea typeface="Arimo"/>
                  <a:cs typeface="Arimo"/>
                  <a:sym typeface="Arimo"/>
                </a:rPr>
                <a:t>Standard Class had the highest sales.</a:t>
              </a:r>
            </a:p>
            <a:p>
              <a:pPr marL="647700" lvl="1" indent="-323850" algn="l">
                <a:lnSpc>
                  <a:spcPts val="4200"/>
                </a:lnSpc>
                <a:buFont typeface="Arial"/>
                <a:buChar char="•"/>
              </a:pPr>
              <a:r>
                <a:rPr lang="en-US" sz="3000">
                  <a:solidFill>
                    <a:srgbClr val="2C4600"/>
                  </a:solidFill>
                  <a:latin typeface="Arimo"/>
                  <a:ea typeface="Arimo"/>
                  <a:cs typeface="Arimo"/>
                  <a:sym typeface="Arimo"/>
                </a:rPr>
                <a:t>Technology products earned the most revenue.</a:t>
              </a:r>
            </a:p>
            <a:p>
              <a:pPr marL="647700" lvl="1" indent="-323850" algn="l">
                <a:lnSpc>
                  <a:spcPts val="4200"/>
                </a:lnSpc>
                <a:buFont typeface="Arial"/>
                <a:buChar char="•"/>
              </a:pPr>
              <a:r>
                <a:rPr lang="en-US" sz="3000">
                  <a:solidFill>
                    <a:srgbClr val="2C4600"/>
                  </a:solidFill>
                  <a:latin typeface="Arimo"/>
                  <a:ea typeface="Arimo"/>
                  <a:cs typeface="Arimo"/>
                  <a:sym typeface="Arimo"/>
                </a:rPr>
                <a:t>Office Supplies sold in high quantities.</a:t>
              </a:r>
            </a:p>
            <a:p>
              <a:pPr marL="647700" lvl="1" indent="-323850" algn="l">
                <a:lnSpc>
                  <a:spcPts val="4200"/>
                </a:lnSpc>
                <a:buFont typeface="Arial"/>
                <a:buChar char="•"/>
              </a:pPr>
              <a:r>
                <a:rPr lang="en-US" sz="3000">
                  <a:solidFill>
                    <a:srgbClr val="2C4600"/>
                  </a:solidFill>
                  <a:latin typeface="Arimo"/>
                  <a:ea typeface="Arimo"/>
                  <a:cs typeface="Arimo"/>
                  <a:sym typeface="Arimo"/>
                </a:rPr>
                <a:t>Furniture had fewer sales but higher order values.</a:t>
              </a:r>
            </a:p>
            <a:p>
              <a:pPr algn="l">
                <a:lnSpc>
                  <a:spcPts val="4200"/>
                </a:lnSpc>
              </a:pPr>
              <a:r>
                <a:rPr lang="en-US" sz="3000" b="1">
                  <a:solidFill>
                    <a:srgbClr val="2C4600"/>
                  </a:solidFill>
                  <a:latin typeface="Arimo Bold"/>
                  <a:ea typeface="Arimo Bold"/>
                  <a:cs typeface="Arimo Bold"/>
                  <a:sym typeface="Arimo Bold"/>
                </a:rPr>
                <a:t>Discount Trends:</a:t>
              </a:r>
            </a:p>
            <a:p>
              <a:pPr marL="647700" lvl="1" indent="-323850" algn="l">
                <a:lnSpc>
                  <a:spcPts val="4200"/>
                </a:lnSpc>
                <a:buFont typeface="Arial"/>
                <a:buChar char="•"/>
              </a:pPr>
              <a:r>
                <a:rPr lang="en-US" sz="3000">
                  <a:solidFill>
                    <a:srgbClr val="2C4600"/>
                  </a:solidFill>
                  <a:latin typeface="Arimo"/>
                  <a:ea typeface="Arimo"/>
                  <a:cs typeface="Arimo"/>
                  <a:sym typeface="Arimo"/>
                </a:rPr>
                <a:t>Average discount was about 15%.</a:t>
              </a:r>
            </a:p>
            <a:p>
              <a:pPr marL="647700" lvl="1" indent="-323850" algn="l">
                <a:lnSpc>
                  <a:spcPts val="4200"/>
                </a:lnSpc>
                <a:buFont typeface="Arial"/>
                <a:buChar char="•"/>
              </a:pPr>
              <a:r>
                <a:rPr lang="en-US" sz="3000">
                  <a:solidFill>
                    <a:srgbClr val="2C4600"/>
                  </a:solidFill>
                  <a:latin typeface="Arimo"/>
                  <a:ea typeface="Arimo"/>
                  <a:cs typeface="Arimo"/>
                  <a:sym typeface="Arimo"/>
                </a:rPr>
                <a:t>Higher discounts increased sales but reduced profit.</a:t>
              </a:r>
            </a:p>
            <a:p>
              <a:pPr marL="647700" lvl="1" indent="-323850" algn="l">
                <a:lnSpc>
                  <a:spcPts val="4200"/>
                </a:lnSpc>
                <a:buFont typeface="Arial"/>
                <a:buChar char="•"/>
              </a:pPr>
              <a:r>
                <a:rPr lang="en-US" sz="3000">
                  <a:solidFill>
                    <a:srgbClr val="2C4600"/>
                  </a:solidFill>
                  <a:latin typeface="Arimo"/>
                  <a:ea typeface="Arimo"/>
                  <a:cs typeface="Arimo"/>
                  <a:sym typeface="Arimo"/>
                </a:rPr>
                <a:t>Medium discounts (10–20%) worked best.</a:t>
              </a:r>
            </a:p>
            <a:p>
              <a:pPr marL="647700" lvl="1" indent="-323850" algn="l">
                <a:lnSpc>
                  <a:spcPts val="4200"/>
                </a:lnSpc>
                <a:buFont typeface="Arial"/>
                <a:buChar char="•"/>
              </a:pPr>
              <a:r>
                <a:rPr lang="en-US" sz="3000">
                  <a:solidFill>
                    <a:srgbClr val="2C4600"/>
                  </a:solidFill>
                  <a:latin typeface="Arimo"/>
                  <a:ea typeface="Arimo"/>
                  <a:cs typeface="Arimo"/>
                  <a:sym typeface="Arimo"/>
                </a:rPr>
                <a:t>Corporate customers got low Seasonal Patterns</a:t>
              </a:r>
            </a:p>
            <a:p>
              <a:pPr marL="647700" lvl="1" indent="-323850" algn="l">
                <a:lnSpc>
                  <a:spcPts val="4200"/>
                </a:lnSpc>
                <a:buFont typeface="Arial"/>
                <a:buChar char="•"/>
              </a:pPr>
              <a:r>
                <a:rPr lang="en-US" sz="3000">
                  <a:solidFill>
                    <a:srgbClr val="2C4600"/>
                  </a:solidFill>
                  <a:latin typeface="Arimo"/>
                  <a:ea typeface="Arimo"/>
                  <a:cs typeface="Arimo"/>
                  <a:sym typeface="Arimo"/>
                </a:rPr>
                <a:t>Peak sales: November–December.</a:t>
              </a:r>
            </a:p>
            <a:p>
              <a:pPr marL="647700" lvl="1" indent="-323850" algn="l">
                <a:lnSpc>
                  <a:spcPts val="4200"/>
                </a:lnSpc>
                <a:buFont typeface="Arial"/>
                <a:buChar char="•"/>
              </a:pPr>
              <a:r>
                <a:rPr lang="en-US" sz="3000">
                  <a:solidFill>
                    <a:srgbClr val="2C4600"/>
                  </a:solidFill>
                  <a:latin typeface="Arimo"/>
                  <a:ea typeface="Arimo"/>
                  <a:cs typeface="Arimo"/>
                  <a:sym typeface="Arimo"/>
                </a:rPr>
                <a:t>Low sales: February–April.</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4F0D8"/>
        </a:solidFill>
        <a:effectLst/>
      </p:bgPr>
    </p:bg>
    <p:spTree>
      <p:nvGrpSpPr>
        <p:cNvPr id="1" name=""/>
        <p:cNvGrpSpPr/>
        <p:nvPr/>
      </p:nvGrpSpPr>
      <p:grpSpPr>
        <a:xfrm>
          <a:off x="0" y="0"/>
          <a:ext cx="0" cy="0"/>
          <a:chOff x="0" y="0"/>
          <a:chExt cx="0" cy="0"/>
        </a:xfrm>
      </p:grpSpPr>
      <p:sp>
        <p:nvSpPr>
          <p:cNvPr id="2" name="Freeform 2"/>
          <p:cNvSpPr/>
          <p:nvPr/>
        </p:nvSpPr>
        <p:spPr>
          <a:xfrm rot="9891071">
            <a:off x="13768657" y="-4710460"/>
            <a:ext cx="8328590" cy="6600408"/>
          </a:xfrm>
          <a:custGeom>
            <a:avLst/>
            <a:gdLst/>
            <a:ahLst/>
            <a:cxnLst/>
            <a:rect l="l" t="t" r="r" b="b"/>
            <a:pathLst>
              <a:path w="8328590" h="6600408">
                <a:moveTo>
                  <a:pt x="0" y="0"/>
                </a:moveTo>
                <a:lnTo>
                  <a:pt x="8328591" y="0"/>
                </a:lnTo>
                <a:lnTo>
                  <a:pt x="8328591" y="6600407"/>
                </a:lnTo>
                <a:lnTo>
                  <a:pt x="0" y="66004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9891071">
            <a:off x="10247754" y="-9577219"/>
            <a:ext cx="10608642" cy="11546822"/>
          </a:xfrm>
          <a:custGeom>
            <a:avLst/>
            <a:gdLst/>
            <a:ahLst/>
            <a:cxnLst/>
            <a:rect l="l" t="t" r="r" b="b"/>
            <a:pathLst>
              <a:path w="10608642" h="11546822">
                <a:moveTo>
                  <a:pt x="0" y="0"/>
                </a:moveTo>
                <a:lnTo>
                  <a:pt x="10608642" y="0"/>
                </a:lnTo>
                <a:lnTo>
                  <a:pt x="10608642"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9891071">
            <a:off x="15012761" y="-14560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9891071">
            <a:off x="12402248" y="-2057400"/>
            <a:ext cx="2356658" cy="4114800"/>
          </a:xfrm>
          <a:custGeom>
            <a:avLst/>
            <a:gdLst/>
            <a:ahLst/>
            <a:cxnLst/>
            <a:rect l="l" t="t" r="r" b="b"/>
            <a:pathLst>
              <a:path w="2356658" h="4114800">
                <a:moveTo>
                  <a:pt x="0" y="0"/>
                </a:moveTo>
                <a:lnTo>
                  <a:pt x="2356658" y="0"/>
                </a:lnTo>
                <a:lnTo>
                  <a:pt x="235665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6514775" y="8229600"/>
            <a:ext cx="1489050" cy="2519931"/>
          </a:xfrm>
          <a:custGeom>
            <a:avLst/>
            <a:gdLst/>
            <a:ahLst/>
            <a:cxnLst/>
            <a:rect l="l" t="t" r="r" b="b"/>
            <a:pathLst>
              <a:path w="1489050" h="2519931">
                <a:moveTo>
                  <a:pt x="0" y="0"/>
                </a:moveTo>
                <a:lnTo>
                  <a:pt x="1489050" y="0"/>
                </a:lnTo>
                <a:lnTo>
                  <a:pt x="1489050" y="2519931"/>
                </a:lnTo>
                <a:lnTo>
                  <a:pt x="0" y="251993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flipV="1">
            <a:off x="284175" y="-433465"/>
            <a:ext cx="1489050" cy="2519931"/>
          </a:xfrm>
          <a:custGeom>
            <a:avLst/>
            <a:gdLst/>
            <a:ahLst/>
            <a:cxnLst/>
            <a:rect l="l" t="t" r="r" b="b"/>
            <a:pathLst>
              <a:path w="1489050" h="2519931">
                <a:moveTo>
                  <a:pt x="0" y="2519931"/>
                </a:moveTo>
                <a:lnTo>
                  <a:pt x="1489050" y="2519931"/>
                </a:lnTo>
                <a:lnTo>
                  <a:pt x="1489050" y="0"/>
                </a:lnTo>
                <a:lnTo>
                  <a:pt x="0" y="0"/>
                </a:lnTo>
                <a:lnTo>
                  <a:pt x="0" y="2519931"/>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8" name="Group 8"/>
          <p:cNvGrpSpPr/>
          <p:nvPr/>
        </p:nvGrpSpPr>
        <p:grpSpPr>
          <a:xfrm>
            <a:off x="1302543" y="2086466"/>
            <a:ext cx="14556133" cy="6962928"/>
            <a:chOff x="0" y="0"/>
            <a:chExt cx="19408177" cy="9283904"/>
          </a:xfrm>
        </p:grpSpPr>
        <p:sp>
          <p:nvSpPr>
            <p:cNvPr id="9" name="TextBox 9"/>
            <p:cNvSpPr txBox="1"/>
            <p:nvPr/>
          </p:nvSpPr>
          <p:spPr>
            <a:xfrm>
              <a:off x="552906" y="1197797"/>
              <a:ext cx="18855271" cy="8086107"/>
            </a:xfrm>
            <a:prstGeom prst="rect">
              <a:avLst/>
            </a:prstGeom>
          </p:spPr>
          <p:txBody>
            <a:bodyPr lIns="0" tIns="0" rIns="0" bIns="0" rtlCol="0" anchor="t">
              <a:spAutoFit/>
            </a:bodyPr>
            <a:lstStyle/>
            <a:p>
              <a:pPr algn="just">
                <a:lnSpc>
                  <a:spcPts val="4436"/>
                </a:lnSpc>
              </a:pPr>
              <a:r>
                <a:rPr lang="en-US" sz="2738" b="1">
                  <a:solidFill>
                    <a:srgbClr val="2C4600"/>
                  </a:solidFill>
                  <a:latin typeface="Arimo Bold"/>
                  <a:ea typeface="Arimo Bold"/>
                  <a:cs typeface="Arimo Bold"/>
                  <a:sym typeface="Arimo Bold"/>
                </a:rPr>
                <a:t>TOTAL SALES:</a:t>
              </a:r>
            </a:p>
            <a:p>
              <a:pPr marL="591316" lvl="1" indent="-295658" algn="just">
                <a:lnSpc>
                  <a:spcPts val="4436"/>
                </a:lnSpc>
                <a:buFont typeface="Arial"/>
                <a:buChar char="•"/>
              </a:pPr>
              <a:r>
                <a:rPr lang="en-US" sz="2738">
                  <a:solidFill>
                    <a:srgbClr val="2C4600"/>
                  </a:solidFill>
                  <a:latin typeface="Arimo"/>
                  <a:ea typeface="Arimo"/>
                  <a:cs typeface="Arimo"/>
                  <a:sym typeface="Arimo"/>
                </a:rPr>
                <a:t>Gross Sales: =SUM(Sales_Amount) </a:t>
              </a:r>
            </a:p>
            <a:p>
              <a:pPr marL="591316" lvl="1" indent="-295658" algn="just">
                <a:lnSpc>
                  <a:spcPts val="4436"/>
                </a:lnSpc>
                <a:buFont typeface="Arial"/>
                <a:buChar char="•"/>
              </a:pPr>
              <a:r>
                <a:rPr lang="en-US" sz="2738">
                  <a:solidFill>
                    <a:srgbClr val="2C4600"/>
                  </a:solidFill>
                  <a:latin typeface="Arimo"/>
                  <a:ea typeface="Arimo"/>
                  <a:cs typeface="Arimo"/>
                  <a:sym typeface="Arimo"/>
                </a:rPr>
                <a:t>Adjusted Sales: =Net_Sales - SUM(Discount_Amount) </a:t>
              </a:r>
            </a:p>
            <a:p>
              <a:pPr algn="just">
                <a:lnSpc>
                  <a:spcPts val="4436"/>
                </a:lnSpc>
              </a:pPr>
              <a:r>
                <a:rPr lang="en-US" sz="2738" b="1">
                  <a:solidFill>
                    <a:srgbClr val="2C4600"/>
                  </a:solidFill>
                  <a:latin typeface="Arimo Bold"/>
                  <a:ea typeface="Arimo Bold"/>
                  <a:cs typeface="Arimo Bold"/>
                  <a:sym typeface="Arimo Bold"/>
                </a:rPr>
                <a:t>AVERAGE SALES PER ORDER:</a:t>
              </a:r>
            </a:p>
            <a:p>
              <a:pPr marL="591316" lvl="1" indent="-295658" algn="just">
                <a:lnSpc>
                  <a:spcPts val="4436"/>
                </a:lnSpc>
                <a:buFont typeface="Arial"/>
                <a:buChar char="•"/>
              </a:pPr>
              <a:r>
                <a:rPr lang="en-US" sz="2738">
                  <a:solidFill>
                    <a:srgbClr val="2C4600"/>
                  </a:solidFill>
                  <a:latin typeface="Arimo"/>
                  <a:ea typeface="Arimo"/>
                  <a:cs typeface="Arimo"/>
                  <a:sym typeface="Arimo"/>
                </a:rPr>
                <a:t>=AVERAGE(Sales_Amount) or </a:t>
              </a:r>
            </a:p>
            <a:p>
              <a:pPr marL="591316" lvl="1" indent="-295658" algn="just">
                <a:lnSpc>
                  <a:spcPts val="4436"/>
                </a:lnSpc>
                <a:buFont typeface="Arial"/>
                <a:buChar char="•"/>
              </a:pPr>
              <a:r>
                <a:rPr lang="en-US" sz="2738">
                  <a:solidFill>
                    <a:srgbClr val="2C4600"/>
                  </a:solidFill>
                  <a:latin typeface="Arimo"/>
                  <a:ea typeface="Arimo"/>
                  <a:cs typeface="Arimo"/>
                  <a:sym typeface="Arimo"/>
                </a:rPr>
                <a:t>=AVERAGEIF(Order_Type, “Furniture", Sales_Amount)</a:t>
              </a:r>
            </a:p>
            <a:p>
              <a:pPr algn="just">
                <a:lnSpc>
                  <a:spcPts val="4436"/>
                </a:lnSpc>
              </a:pPr>
              <a:r>
                <a:rPr lang="en-US" sz="2738" b="1">
                  <a:solidFill>
                    <a:srgbClr val="2C4600"/>
                  </a:solidFill>
                  <a:latin typeface="Arimo Bold"/>
                  <a:ea typeface="Arimo Bold"/>
                  <a:cs typeface="Arimo Bold"/>
                  <a:sym typeface="Arimo Bold"/>
                </a:rPr>
                <a:t>TOTAL DISCOUNTS:</a:t>
              </a:r>
            </a:p>
            <a:p>
              <a:pPr marL="591316" lvl="1" indent="-295658" algn="just">
                <a:lnSpc>
                  <a:spcPts val="4436"/>
                </a:lnSpc>
                <a:buFont typeface="Arial"/>
                <a:buChar char="•"/>
              </a:pPr>
              <a:r>
                <a:rPr lang="en-US" sz="2738">
                  <a:solidFill>
                    <a:srgbClr val="2C4600"/>
                  </a:solidFill>
                  <a:latin typeface="Arimo"/>
                  <a:ea typeface="Arimo"/>
                  <a:cs typeface="Arimo"/>
                  <a:sym typeface="Arimo"/>
                </a:rPr>
                <a:t>=SUM(Discount_Amount)/SUM(Gross_Sales)</a:t>
              </a:r>
            </a:p>
            <a:p>
              <a:pPr algn="just">
                <a:lnSpc>
                  <a:spcPts val="4436"/>
                </a:lnSpc>
              </a:pPr>
              <a:r>
                <a:rPr lang="en-US" sz="2738" b="1">
                  <a:solidFill>
                    <a:srgbClr val="2C4600"/>
                  </a:solidFill>
                  <a:latin typeface="Arimo Bold"/>
                  <a:ea typeface="Arimo Bold"/>
                  <a:cs typeface="Arimo Bold"/>
                  <a:sym typeface="Arimo Bold"/>
                </a:rPr>
                <a:t>TOP PERFORMING CATEGORIES:</a:t>
              </a:r>
            </a:p>
            <a:p>
              <a:pPr marL="591316" lvl="1" indent="-295658" algn="just">
                <a:lnSpc>
                  <a:spcPts val="4436"/>
                </a:lnSpc>
                <a:buFont typeface="Arial"/>
                <a:buChar char="•"/>
              </a:pPr>
              <a:r>
                <a:rPr lang="en-US" sz="2738">
                  <a:solidFill>
                    <a:srgbClr val="2C4600"/>
                  </a:solidFill>
                  <a:latin typeface="Arimo"/>
                  <a:ea typeface="Arimo"/>
                  <a:cs typeface="Arimo"/>
                  <a:sym typeface="Arimo"/>
                </a:rPr>
                <a:t>=Used Pivotchart &amp; Table to get Values from data set to create dashboard </a:t>
              </a:r>
            </a:p>
            <a:p>
              <a:pPr algn="just">
                <a:lnSpc>
                  <a:spcPts val="4436"/>
                </a:lnSpc>
              </a:pPr>
              <a:r>
                <a:rPr lang="en-US" sz="2738">
                  <a:solidFill>
                    <a:srgbClr val="2C4600"/>
                  </a:solidFill>
                  <a:latin typeface="Arimo"/>
                  <a:ea typeface="Arimo"/>
                  <a:cs typeface="Arimo"/>
                  <a:sym typeface="Arimo"/>
                </a:rPr>
                <a:t>from another sheet</a:t>
              </a:r>
            </a:p>
          </p:txBody>
        </p:sp>
        <p:sp>
          <p:nvSpPr>
            <p:cNvPr id="10" name="TextBox 10"/>
            <p:cNvSpPr txBox="1"/>
            <p:nvPr/>
          </p:nvSpPr>
          <p:spPr>
            <a:xfrm>
              <a:off x="0" y="123825"/>
              <a:ext cx="15885805" cy="681951"/>
            </a:xfrm>
            <a:prstGeom prst="rect">
              <a:avLst/>
            </a:prstGeom>
          </p:spPr>
          <p:txBody>
            <a:bodyPr lIns="0" tIns="0" rIns="0" bIns="0" rtlCol="0" anchor="t">
              <a:spAutoFit/>
            </a:bodyPr>
            <a:lstStyle/>
            <a:p>
              <a:pPr algn="ctr">
                <a:lnSpc>
                  <a:spcPts val="3459"/>
                </a:lnSpc>
              </a:pPr>
              <a:r>
                <a:rPr lang="en-US" sz="3976" b="1">
                  <a:solidFill>
                    <a:srgbClr val="2C4600"/>
                  </a:solidFill>
                  <a:latin typeface="Century Gothic Paneuropean Bold"/>
                  <a:ea typeface="Century Gothic Paneuropean Bold"/>
                  <a:cs typeface="Century Gothic Paneuropean Bold"/>
                  <a:sym typeface="Century Gothic Paneuropean Bold"/>
                </a:rPr>
                <a:t>KEY METRICS CALCULATION AND DATA ANALYSIS: </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4F0D8"/>
        </a:solidFill>
        <a:effectLst/>
      </p:bgPr>
    </p:bg>
    <p:spTree>
      <p:nvGrpSpPr>
        <p:cNvPr id="1" name=""/>
        <p:cNvGrpSpPr/>
        <p:nvPr/>
      </p:nvGrpSpPr>
      <p:grpSpPr>
        <a:xfrm>
          <a:off x="0" y="0"/>
          <a:ext cx="0" cy="0"/>
          <a:chOff x="0" y="0"/>
          <a:chExt cx="0" cy="0"/>
        </a:xfrm>
      </p:grpSpPr>
      <p:sp>
        <p:nvSpPr>
          <p:cNvPr id="2" name="Freeform 2"/>
          <p:cNvSpPr/>
          <p:nvPr/>
        </p:nvSpPr>
        <p:spPr>
          <a:xfrm>
            <a:off x="-4164295" y="6986796"/>
            <a:ext cx="8328590" cy="6600408"/>
          </a:xfrm>
          <a:custGeom>
            <a:avLst/>
            <a:gdLst/>
            <a:ahLst/>
            <a:cxnLst/>
            <a:rect l="l" t="t" r="r" b="b"/>
            <a:pathLst>
              <a:path w="8328590" h="6600408">
                <a:moveTo>
                  <a:pt x="0" y="0"/>
                </a:moveTo>
                <a:lnTo>
                  <a:pt x="8328590" y="0"/>
                </a:lnTo>
                <a:lnTo>
                  <a:pt x="8328590" y="6600408"/>
                </a:lnTo>
                <a:lnTo>
                  <a:pt x="0" y="66004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3631678" y="7446153"/>
            <a:ext cx="10608642" cy="11546822"/>
          </a:xfrm>
          <a:custGeom>
            <a:avLst/>
            <a:gdLst/>
            <a:ahLst/>
            <a:cxnLst/>
            <a:rect l="l" t="t" r="r" b="b"/>
            <a:pathLst>
              <a:path w="10608642" h="11546822">
                <a:moveTo>
                  <a:pt x="0" y="0"/>
                </a:moveTo>
                <a:lnTo>
                  <a:pt x="10608643" y="0"/>
                </a:lnTo>
                <a:lnTo>
                  <a:pt x="10608643"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849365">
            <a:off x="-209999" y="72009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3704487" y="8229600"/>
            <a:ext cx="2356658" cy="4114800"/>
          </a:xfrm>
          <a:custGeom>
            <a:avLst/>
            <a:gdLst/>
            <a:ahLst/>
            <a:cxnLst/>
            <a:rect l="l" t="t" r="r" b="b"/>
            <a:pathLst>
              <a:path w="2356658" h="4114800">
                <a:moveTo>
                  <a:pt x="0" y="0"/>
                </a:moveTo>
                <a:lnTo>
                  <a:pt x="2356659" y="0"/>
                </a:lnTo>
                <a:lnTo>
                  <a:pt x="2356659"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flipV="1">
            <a:off x="284175" y="-433465"/>
            <a:ext cx="1489050" cy="2519931"/>
          </a:xfrm>
          <a:custGeom>
            <a:avLst/>
            <a:gdLst/>
            <a:ahLst/>
            <a:cxnLst/>
            <a:rect l="l" t="t" r="r" b="b"/>
            <a:pathLst>
              <a:path w="1489050" h="2519931">
                <a:moveTo>
                  <a:pt x="0" y="2519931"/>
                </a:moveTo>
                <a:lnTo>
                  <a:pt x="1489050" y="2519931"/>
                </a:lnTo>
                <a:lnTo>
                  <a:pt x="1489050" y="0"/>
                </a:lnTo>
                <a:lnTo>
                  <a:pt x="0" y="0"/>
                </a:lnTo>
                <a:lnTo>
                  <a:pt x="0" y="2519931"/>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a:off x="2088043" y="1674557"/>
            <a:ext cx="9777844" cy="2166172"/>
          </a:xfrm>
          <a:custGeom>
            <a:avLst/>
            <a:gdLst/>
            <a:ahLst/>
            <a:cxnLst/>
            <a:rect l="l" t="t" r="r" b="b"/>
            <a:pathLst>
              <a:path w="9777844" h="2166172">
                <a:moveTo>
                  <a:pt x="0" y="0"/>
                </a:moveTo>
                <a:lnTo>
                  <a:pt x="9777844" y="0"/>
                </a:lnTo>
                <a:lnTo>
                  <a:pt x="9777844" y="2166172"/>
                </a:lnTo>
                <a:lnTo>
                  <a:pt x="0" y="2166172"/>
                </a:lnTo>
                <a:lnTo>
                  <a:pt x="0" y="0"/>
                </a:lnTo>
                <a:close/>
              </a:path>
            </a:pathLst>
          </a:custGeom>
          <a:blipFill>
            <a:blip r:embed="rId12"/>
            <a:stretch>
              <a:fillRect b="-4166"/>
            </a:stretch>
          </a:blipFill>
        </p:spPr>
      </p:sp>
      <p:sp>
        <p:nvSpPr>
          <p:cNvPr id="8" name="Freeform 8"/>
          <p:cNvSpPr/>
          <p:nvPr/>
        </p:nvSpPr>
        <p:spPr>
          <a:xfrm>
            <a:off x="1093294" y="4474208"/>
            <a:ext cx="10335094" cy="1879108"/>
          </a:xfrm>
          <a:custGeom>
            <a:avLst/>
            <a:gdLst/>
            <a:ahLst/>
            <a:cxnLst/>
            <a:rect l="l" t="t" r="r" b="b"/>
            <a:pathLst>
              <a:path w="10335094" h="1879108">
                <a:moveTo>
                  <a:pt x="0" y="0"/>
                </a:moveTo>
                <a:lnTo>
                  <a:pt x="10335095" y="0"/>
                </a:lnTo>
                <a:lnTo>
                  <a:pt x="10335095" y="1879108"/>
                </a:lnTo>
                <a:lnTo>
                  <a:pt x="0" y="1879108"/>
                </a:lnTo>
                <a:lnTo>
                  <a:pt x="0" y="0"/>
                </a:lnTo>
                <a:close/>
              </a:path>
            </a:pathLst>
          </a:custGeom>
          <a:blipFill>
            <a:blip r:embed="rId13"/>
            <a:stretch>
              <a:fillRect/>
            </a:stretch>
          </a:blipFill>
        </p:spPr>
      </p:sp>
      <p:sp>
        <p:nvSpPr>
          <p:cNvPr id="9" name="Freeform 9"/>
          <p:cNvSpPr/>
          <p:nvPr/>
        </p:nvSpPr>
        <p:spPr>
          <a:xfrm>
            <a:off x="7712696" y="6986796"/>
            <a:ext cx="9882156" cy="2620191"/>
          </a:xfrm>
          <a:custGeom>
            <a:avLst/>
            <a:gdLst/>
            <a:ahLst/>
            <a:cxnLst/>
            <a:rect l="l" t="t" r="r" b="b"/>
            <a:pathLst>
              <a:path w="9882156" h="2620191">
                <a:moveTo>
                  <a:pt x="0" y="0"/>
                </a:moveTo>
                <a:lnTo>
                  <a:pt x="9882156" y="0"/>
                </a:lnTo>
                <a:lnTo>
                  <a:pt x="9882156" y="2620192"/>
                </a:lnTo>
                <a:lnTo>
                  <a:pt x="0" y="2620192"/>
                </a:lnTo>
                <a:lnTo>
                  <a:pt x="0" y="0"/>
                </a:lnTo>
                <a:close/>
              </a:path>
            </a:pathLst>
          </a:custGeom>
          <a:blipFill>
            <a:blip r:embed="rId14"/>
            <a:stretch>
              <a:fillRect t="-2342" b="-2342"/>
            </a:stretch>
          </a:blipFill>
        </p:spPr>
      </p:sp>
      <p:sp>
        <p:nvSpPr>
          <p:cNvPr id="10" name="TextBox 10"/>
          <p:cNvSpPr txBox="1"/>
          <p:nvPr/>
        </p:nvSpPr>
        <p:spPr>
          <a:xfrm>
            <a:off x="11865887" y="6124238"/>
            <a:ext cx="4191454" cy="550545"/>
          </a:xfrm>
          <a:prstGeom prst="rect">
            <a:avLst/>
          </a:prstGeom>
        </p:spPr>
        <p:txBody>
          <a:bodyPr lIns="0" tIns="0" rIns="0" bIns="0" rtlCol="0" anchor="t">
            <a:spAutoFit/>
          </a:bodyPr>
          <a:lstStyle/>
          <a:p>
            <a:pPr algn="ctr">
              <a:lnSpc>
                <a:spcPts val="3915"/>
              </a:lnSpc>
            </a:pPr>
            <a:r>
              <a:rPr lang="en-US" sz="4500" b="1">
                <a:solidFill>
                  <a:srgbClr val="2C4600"/>
                </a:solidFill>
                <a:latin typeface="Century Gothic Paneuropean Bold"/>
                <a:ea typeface="Century Gothic Paneuropean Bold"/>
                <a:cs typeface="Century Gothic Paneuropean Bold"/>
                <a:sym typeface="Century Gothic Paneuropean Bold"/>
              </a:rPr>
              <a:t>KEY MATRICS</a:t>
            </a:r>
          </a:p>
        </p:txBody>
      </p:sp>
      <p:sp>
        <p:nvSpPr>
          <p:cNvPr id="11" name="TextBox 11"/>
          <p:cNvSpPr txBox="1"/>
          <p:nvPr/>
        </p:nvSpPr>
        <p:spPr>
          <a:xfrm>
            <a:off x="4651413" y="617903"/>
            <a:ext cx="3218857" cy="550545"/>
          </a:xfrm>
          <a:prstGeom prst="rect">
            <a:avLst/>
          </a:prstGeom>
        </p:spPr>
        <p:txBody>
          <a:bodyPr lIns="0" tIns="0" rIns="0" bIns="0" rtlCol="0" anchor="t">
            <a:spAutoFit/>
          </a:bodyPr>
          <a:lstStyle/>
          <a:p>
            <a:pPr algn="ctr">
              <a:lnSpc>
                <a:spcPts val="3915"/>
              </a:lnSpc>
            </a:pPr>
            <a:r>
              <a:rPr lang="en-US" sz="4500" b="1">
                <a:solidFill>
                  <a:srgbClr val="2C4600"/>
                </a:solidFill>
                <a:latin typeface="Century Gothic Paneuropean Bold"/>
                <a:ea typeface="Century Gothic Paneuropean Bold"/>
                <a:cs typeface="Century Gothic Paneuropean Bold"/>
                <a:sym typeface="Century Gothic Paneuropean Bold"/>
              </a:rPr>
              <a:t>INSIGHTS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4F0D8"/>
        </a:solidFill>
        <a:effectLst/>
      </p:bgPr>
    </p:bg>
    <p:spTree>
      <p:nvGrpSpPr>
        <p:cNvPr id="1" name=""/>
        <p:cNvGrpSpPr/>
        <p:nvPr/>
      </p:nvGrpSpPr>
      <p:grpSpPr>
        <a:xfrm>
          <a:off x="0" y="0"/>
          <a:ext cx="0" cy="0"/>
          <a:chOff x="0" y="0"/>
          <a:chExt cx="0" cy="0"/>
        </a:xfrm>
      </p:grpSpPr>
      <p:sp>
        <p:nvSpPr>
          <p:cNvPr id="2" name="Freeform 2"/>
          <p:cNvSpPr/>
          <p:nvPr/>
        </p:nvSpPr>
        <p:spPr>
          <a:xfrm rot="9891071">
            <a:off x="13768657" y="-4710460"/>
            <a:ext cx="8328590" cy="6600408"/>
          </a:xfrm>
          <a:custGeom>
            <a:avLst/>
            <a:gdLst/>
            <a:ahLst/>
            <a:cxnLst/>
            <a:rect l="l" t="t" r="r" b="b"/>
            <a:pathLst>
              <a:path w="8328590" h="6600408">
                <a:moveTo>
                  <a:pt x="0" y="0"/>
                </a:moveTo>
                <a:lnTo>
                  <a:pt x="8328591" y="0"/>
                </a:lnTo>
                <a:lnTo>
                  <a:pt x="8328591" y="6600407"/>
                </a:lnTo>
                <a:lnTo>
                  <a:pt x="0" y="66004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9891071">
            <a:off x="10247754" y="-9577219"/>
            <a:ext cx="10608642" cy="11546822"/>
          </a:xfrm>
          <a:custGeom>
            <a:avLst/>
            <a:gdLst/>
            <a:ahLst/>
            <a:cxnLst/>
            <a:rect l="l" t="t" r="r" b="b"/>
            <a:pathLst>
              <a:path w="10608642" h="11546822">
                <a:moveTo>
                  <a:pt x="0" y="0"/>
                </a:moveTo>
                <a:lnTo>
                  <a:pt x="10608642" y="0"/>
                </a:lnTo>
                <a:lnTo>
                  <a:pt x="10608642"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9891071">
            <a:off x="15012761" y="-14560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9891071">
            <a:off x="12402248" y="-2057400"/>
            <a:ext cx="2356658" cy="4114800"/>
          </a:xfrm>
          <a:custGeom>
            <a:avLst/>
            <a:gdLst/>
            <a:ahLst/>
            <a:cxnLst/>
            <a:rect l="l" t="t" r="r" b="b"/>
            <a:pathLst>
              <a:path w="2356658" h="4114800">
                <a:moveTo>
                  <a:pt x="0" y="0"/>
                </a:moveTo>
                <a:lnTo>
                  <a:pt x="2356658" y="0"/>
                </a:lnTo>
                <a:lnTo>
                  <a:pt x="235665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flipV="1">
            <a:off x="284175" y="-433465"/>
            <a:ext cx="1489050" cy="2519931"/>
          </a:xfrm>
          <a:custGeom>
            <a:avLst/>
            <a:gdLst/>
            <a:ahLst/>
            <a:cxnLst/>
            <a:rect l="l" t="t" r="r" b="b"/>
            <a:pathLst>
              <a:path w="1489050" h="2519931">
                <a:moveTo>
                  <a:pt x="0" y="2519931"/>
                </a:moveTo>
                <a:lnTo>
                  <a:pt x="1489050" y="2519931"/>
                </a:lnTo>
                <a:lnTo>
                  <a:pt x="1489050" y="0"/>
                </a:lnTo>
                <a:lnTo>
                  <a:pt x="0" y="0"/>
                </a:lnTo>
                <a:lnTo>
                  <a:pt x="0" y="2519931"/>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7" name="Group 7"/>
          <p:cNvGrpSpPr/>
          <p:nvPr/>
        </p:nvGrpSpPr>
        <p:grpSpPr>
          <a:xfrm>
            <a:off x="1493038" y="4400357"/>
            <a:ext cx="7430292" cy="4984823"/>
            <a:chOff x="0" y="0"/>
            <a:chExt cx="1133279" cy="760292"/>
          </a:xfrm>
        </p:grpSpPr>
        <p:sp>
          <p:nvSpPr>
            <p:cNvPr id="8" name="Freeform 8"/>
            <p:cNvSpPr/>
            <p:nvPr/>
          </p:nvSpPr>
          <p:spPr>
            <a:xfrm rot="6000">
              <a:off x="-663" y="-988"/>
              <a:ext cx="1134604" cy="762269"/>
            </a:xfrm>
            <a:custGeom>
              <a:avLst/>
              <a:gdLst/>
              <a:ahLst/>
              <a:cxnLst/>
              <a:rect l="l" t="t" r="r" b="b"/>
              <a:pathLst>
                <a:path w="1134604" h="762269">
                  <a:moveTo>
                    <a:pt x="0" y="1978"/>
                  </a:moveTo>
                  <a:lnTo>
                    <a:pt x="1133278" y="0"/>
                  </a:lnTo>
                  <a:lnTo>
                    <a:pt x="1134605" y="760291"/>
                  </a:lnTo>
                  <a:lnTo>
                    <a:pt x="1327" y="762269"/>
                  </a:lnTo>
                  <a:close/>
                </a:path>
              </a:pathLst>
            </a:custGeom>
            <a:blipFill>
              <a:blip r:embed="rId12"/>
              <a:stretch>
                <a:fillRect l="-3479" t="-21449" r="-23849" b="-11926"/>
              </a:stretch>
            </a:blipFill>
          </p:spPr>
        </p:sp>
      </p:grpSp>
      <p:grpSp>
        <p:nvGrpSpPr>
          <p:cNvPr id="9" name="Group 9"/>
          <p:cNvGrpSpPr/>
          <p:nvPr/>
        </p:nvGrpSpPr>
        <p:grpSpPr>
          <a:xfrm>
            <a:off x="9405197" y="4400357"/>
            <a:ext cx="7970420" cy="4731063"/>
            <a:chOff x="0" y="0"/>
            <a:chExt cx="1523209" cy="904143"/>
          </a:xfrm>
        </p:grpSpPr>
        <p:sp>
          <p:nvSpPr>
            <p:cNvPr id="10" name="Freeform 10"/>
            <p:cNvSpPr/>
            <p:nvPr/>
          </p:nvSpPr>
          <p:spPr>
            <a:xfrm>
              <a:off x="0" y="0"/>
              <a:ext cx="1523208" cy="904142"/>
            </a:xfrm>
            <a:custGeom>
              <a:avLst/>
              <a:gdLst/>
              <a:ahLst/>
              <a:cxnLst/>
              <a:rect l="l" t="t" r="r" b="b"/>
              <a:pathLst>
                <a:path w="1523208" h="904142">
                  <a:moveTo>
                    <a:pt x="0" y="0"/>
                  </a:moveTo>
                  <a:lnTo>
                    <a:pt x="1523208" y="0"/>
                  </a:lnTo>
                  <a:lnTo>
                    <a:pt x="1523208" y="904142"/>
                  </a:lnTo>
                  <a:lnTo>
                    <a:pt x="0" y="904142"/>
                  </a:lnTo>
                  <a:close/>
                </a:path>
              </a:pathLst>
            </a:custGeom>
            <a:blipFill>
              <a:blip r:embed="rId13"/>
              <a:stretch>
                <a:fillRect t="-2330" b="-2330"/>
              </a:stretch>
            </a:blipFill>
          </p:spPr>
        </p:sp>
      </p:grpSp>
      <p:sp>
        <p:nvSpPr>
          <p:cNvPr id="11" name="TextBox 11"/>
          <p:cNvSpPr txBox="1"/>
          <p:nvPr/>
        </p:nvSpPr>
        <p:spPr>
          <a:xfrm>
            <a:off x="2825655" y="1362853"/>
            <a:ext cx="9553943" cy="550545"/>
          </a:xfrm>
          <a:prstGeom prst="rect">
            <a:avLst/>
          </a:prstGeom>
        </p:spPr>
        <p:txBody>
          <a:bodyPr lIns="0" tIns="0" rIns="0" bIns="0" rtlCol="0" anchor="t">
            <a:spAutoFit/>
          </a:bodyPr>
          <a:lstStyle/>
          <a:p>
            <a:pPr algn="ctr">
              <a:lnSpc>
                <a:spcPts val="3915"/>
              </a:lnSpc>
            </a:pPr>
            <a:r>
              <a:rPr lang="en-US" sz="4500" b="1">
                <a:solidFill>
                  <a:srgbClr val="2C4600"/>
                </a:solidFill>
                <a:latin typeface="Century Gothic Paneuropean Bold"/>
                <a:ea typeface="Century Gothic Paneuropean Bold"/>
                <a:cs typeface="Century Gothic Paneuropean Bold"/>
                <a:sym typeface="Century Gothic Paneuropean Bold"/>
              </a:rPr>
              <a:t>PIVOT TABLES AND PIVOT CHARTS </a:t>
            </a:r>
          </a:p>
        </p:txBody>
      </p:sp>
      <p:sp>
        <p:nvSpPr>
          <p:cNvPr id="12" name="TextBox 12"/>
          <p:cNvSpPr txBox="1"/>
          <p:nvPr/>
        </p:nvSpPr>
        <p:spPr>
          <a:xfrm>
            <a:off x="1773225" y="2303923"/>
            <a:ext cx="15954139" cy="1626234"/>
          </a:xfrm>
          <a:prstGeom prst="rect">
            <a:avLst/>
          </a:prstGeom>
        </p:spPr>
        <p:txBody>
          <a:bodyPr lIns="0" tIns="0" rIns="0" bIns="0" rtlCol="0" anchor="t">
            <a:spAutoFit/>
          </a:bodyPr>
          <a:lstStyle/>
          <a:p>
            <a:pPr algn="l">
              <a:lnSpc>
                <a:spcPts val="4340"/>
              </a:lnSpc>
            </a:pPr>
            <a:r>
              <a:rPr lang="en-US" sz="3100">
                <a:solidFill>
                  <a:srgbClr val="2C4600"/>
                </a:solidFill>
                <a:latin typeface="Arimo"/>
                <a:ea typeface="Arimo"/>
                <a:cs typeface="Arimo"/>
                <a:sym typeface="Arimo"/>
              </a:rPr>
              <a:t>PivotTables were used to summarize sales by Ship Mode, Product Category, and Order Date, helping identify top-performing channels, seasonal trends, and category-wise performance for deeper, faster sales insights.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4F0D8"/>
        </a:solidFill>
        <a:effectLst/>
      </p:bgPr>
    </p:bg>
    <p:spTree>
      <p:nvGrpSpPr>
        <p:cNvPr id="1" name=""/>
        <p:cNvGrpSpPr/>
        <p:nvPr/>
      </p:nvGrpSpPr>
      <p:grpSpPr>
        <a:xfrm>
          <a:off x="0" y="0"/>
          <a:ext cx="0" cy="0"/>
          <a:chOff x="0" y="0"/>
          <a:chExt cx="0" cy="0"/>
        </a:xfrm>
      </p:grpSpPr>
      <p:grpSp>
        <p:nvGrpSpPr>
          <p:cNvPr id="2" name="Group 2"/>
          <p:cNvGrpSpPr/>
          <p:nvPr/>
        </p:nvGrpSpPr>
        <p:grpSpPr>
          <a:xfrm>
            <a:off x="8744995" y="-9920605"/>
            <a:ext cx="12833067" cy="12857321"/>
            <a:chOff x="0" y="0"/>
            <a:chExt cx="17110756" cy="17143095"/>
          </a:xfrm>
        </p:grpSpPr>
        <p:sp>
          <p:nvSpPr>
            <p:cNvPr id="3" name="Freeform 3"/>
            <p:cNvSpPr/>
            <p:nvPr/>
          </p:nvSpPr>
          <p:spPr>
            <a:xfrm rot="9891071">
              <a:off x="5968136" y="7454797"/>
              <a:ext cx="10258577" cy="8129923"/>
            </a:xfrm>
            <a:custGeom>
              <a:avLst/>
              <a:gdLst/>
              <a:ahLst/>
              <a:cxnLst/>
              <a:rect l="l" t="t" r="r" b="b"/>
              <a:pathLst>
                <a:path w="10258577" h="8129923">
                  <a:moveTo>
                    <a:pt x="0" y="0"/>
                  </a:moveTo>
                  <a:lnTo>
                    <a:pt x="10258578" y="0"/>
                  </a:lnTo>
                  <a:lnTo>
                    <a:pt x="10258578" y="8129922"/>
                  </a:lnTo>
                  <a:lnTo>
                    <a:pt x="0" y="812992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9891071">
              <a:off x="1631333" y="1460262"/>
              <a:ext cx="13066987" cy="14222570"/>
            </a:xfrm>
            <a:custGeom>
              <a:avLst/>
              <a:gdLst/>
              <a:ahLst/>
              <a:cxnLst/>
              <a:rect l="l" t="t" r="r" b="b"/>
              <a:pathLst>
                <a:path w="13066987" h="14222570">
                  <a:moveTo>
                    <a:pt x="0" y="0"/>
                  </a:moveTo>
                  <a:lnTo>
                    <a:pt x="13066986" y="0"/>
                  </a:lnTo>
                  <a:lnTo>
                    <a:pt x="13066986" y="14222571"/>
                  </a:lnTo>
                  <a:lnTo>
                    <a:pt x="0" y="142225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9891071">
              <a:off x="7500537" y="11463415"/>
              <a:ext cx="4266607" cy="5068324"/>
            </a:xfrm>
            <a:custGeom>
              <a:avLst/>
              <a:gdLst/>
              <a:ahLst/>
              <a:cxnLst/>
              <a:rect l="l" t="t" r="r" b="b"/>
              <a:pathLst>
                <a:path w="4266607" h="5068324">
                  <a:moveTo>
                    <a:pt x="0" y="0"/>
                  </a:moveTo>
                  <a:lnTo>
                    <a:pt x="4266607" y="0"/>
                  </a:lnTo>
                  <a:lnTo>
                    <a:pt x="4266607" y="5068324"/>
                  </a:lnTo>
                  <a:lnTo>
                    <a:pt x="0" y="506832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9891071">
              <a:off x="4285089" y="10722651"/>
              <a:ext cx="2902767" cy="5068324"/>
            </a:xfrm>
            <a:custGeom>
              <a:avLst/>
              <a:gdLst/>
              <a:ahLst/>
              <a:cxnLst/>
              <a:rect l="l" t="t" r="r" b="b"/>
              <a:pathLst>
                <a:path w="2902767" h="5068324">
                  <a:moveTo>
                    <a:pt x="0" y="0"/>
                  </a:moveTo>
                  <a:lnTo>
                    <a:pt x="2902767" y="0"/>
                  </a:lnTo>
                  <a:lnTo>
                    <a:pt x="2902767" y="5068324"/>
                  </a:lnTo>
                  <a:lnTo>
                    <a:pt x="0" y="506832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grpSp>
        <p:nvGrpSpPr>
          <p:cNvPr id="7" name="Group 7"/>
          <p:cNvGrpSpPr/>
          <p:nvPr/>
        </p:nvGrpSpPr>
        <p:grpSpPr>
          <a:xfrm>
            <a:off x="-3927440" y="6839802"/>
            <a:ext cx="11006505" cy="12006178"/>
            <a:chOff x="0" y="0"/>
            <a:chExt cx="14675340" cy="16008238"/>
          </a:xfrm>
        </p:grpSpPr>
        <p:sp>
          <p:nvSpPr>
            <p:cNvPr id="8" name="Freeform 8"/>
            <p:cNvSpPr/>
            <p:nvPr/>
          </p:nvSpPr>
          <p:spPr>
            <a:xfrm>
              <a:off x="0" y="193622"/>
              <a:ext cx="10970473" cy="8694100"/>
            </a:xfrm>
            <a:custGeom>
              <a:avLst/>
              <a:gdLst/>
              <a:ahLst/>
              <a:cxnLst/>
              <a:rect l="l" t="t" r="r" b="b"/>
              <a:pathLst>
                <a:path w="10970473" h="8694100">
                  <a:moveTo>
                    <a:pt x="0" y="0"/>
                  </a:moveTo>
                  <a:lnTo>
                    <a:pt x="10970473" y="0"/>
                  </a:lnTo>
                  <a:lnTo>
                    <a:pt x="10970473" y="8694100"/>
                  </a:lnTo>
                  <a:lnTo>
                    <a:pt x="0" y="86941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701567" y="798690"/>
              <a:ext cx="13973773" cy="15209548"/>
            </a:xfrm>
            <a:custGeom>
              <a:avLst/>
              <a:gdLst/>
              <a:ahLst/>
              <a:cxnLst/>
              <a:rect l="l" t="t" r="r" b="b"/>
              <a:pathLst>
                <a:path w="13973773" h="15209548">
                  <a:moveTo>
                    <a:pt x="0" y="0"/>
                  </a:moveTo>
                  <a:lnTo>
                    <a:pt x="13973773" y="0"/>
                  </a:lnTo>
                  <a:lnTo>
                    <a:pt x="13973773" y="15209548"/>
                  </a:lnTo>
                  <a:lnTo>
                    <a:pt x="0" y="152095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849365">
              <a:off x="5208625" y="475641"/>
              <a:ext cx="4562689" cy="5420041"/>
            </a:xfrm>
            <a:custGeom>
              <a:avLst/>
              <a:gdLst/>
              <a:ahLst/>
              <a:cxnLst/>
              <a:rect l="l" t="t" r="r" b="b"/>
              <a:pathLst>
                <a:path w="4562689" h="5420041">
                  <a:moveTo>
                    <a:pt x="0" y="0"/>
                  </a:moveTo>
                  <a:lnTo>
                    <a:pt x="4562689" y="0"/>
                  </a:lnTo>
                  <a:lnTo>
                    <a:pt x="4562689" y="5420041"/>
                  </a:lnTo>
                  <a:lnTo>
                    <a:pt x="0" y="542004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10364811" y="1830651"/>
              <a:ext cx="3104205" cy="5420041"/>
            </a:xfrm>
            <a:custGeom>
              <a:avLst/>
              <a:gdLst/>
              <a:ahLst/>
              <a:cxnLst/>
              <a:rect l="l" t="t" r="r" b="b"/>
              <a:pathLst>
                <a:path w="3104205" h="5420041">
                  <a:moveTo>
                    <a:pt x="0" y="0"/>
                  </a:moveTo>
                  <a:lnTo>
                    <a:pt x="3104206" y="0"/>
                  </a:lnTo>
                  <a:lnTo>
                    <a:pt x="3104206" y="5420041"/>
                  </a:lnTo>
                  <a:lnTo>
                    <a:pt x="0" y="542004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sp>
        <p:nvSpPr>
          <p:cNvPr id="12" name="Freeform 12"/>
          <p:cNvSpPr/>
          <p:nvPr/>
        </p:nvSpPr>
        <p:spPr>
          <a:xfrm flipV="1">
            <a:off x="284175" y="-433465"/>
            <a:ext cx="1489050" cy="2519931"/>
          </a:xfrm>
          <a:custGeom>
            <a:avLst/>
            <a:gdLst/>
            <a:ahLst/>
            <a:cxnLst/>
            <a:rect l="l" t="t" r="r" b="b"/>
            <a:pathLst>
              <a:path w="1489050" h="2519931">
                <a:moveTo>
                  <a:pt x="0" y="2519931"/>
                </a:moveTo>
                <a:lnTo>
                  <a:pt x="1489050" y="2519931"/>
                </a:lnTo>
                <a:lnTo>
                  <a:pt x="1489050" y="0"/>
                </a:lnTo>
                <a:lnTo>
                  <a:pt x="0" y="0"/>
                </a:lnTo>
                <a:lnTo>
                  <a:pt x="0" y="2519931"/>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a:off x="16514775" y="8229600"/>
            <a:ext cx="1489050" cy="2519931"/>
          </a:xfrm>
          <a:custGeom>
            <a:avLst/>
            <a:gdLst/>
            <a:ahLst/>
            <a:cxnLst/>
            <a:rect l="l" t="t" r="r" b="b"/>
            <a:pathLst>
              <a:path w="1489050" h="2519931">
                <a:moveTo>
                  <a:pt x="0" y="0"/>
                </a:moveTo>
                <a:lnTo>
                  <a:pt x="1489050" y="0"/>
                </a:lnTo>
                <a:lnTo>
                  <a:pt x="1489050" y="2519931"/>
                </a:lnTo>
                <a:lnTo>
                  <a:pt x="0" y="251993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14" name="Group 14"/>
          <p:cNvGrpSpPr/>
          <p:nvPr/>
        </p:nvGrpSpPr>
        <p:grpSpPr>
          <a:xfrm>
            <a:off x="-320367" y="1807834"/>
            <a:ext cx="18324192" cy="6421766"/>
            <a:chOff x="0" y="0"/>
            <a:chExt cx="24432256" cy="8562354"/>
          </a:xfrm>
        </p:grpSpPr>
        <p:sp>
          <p:nvSpPr>
            <p:cNvPr id="15" name="TextBox 15"/>
            <p:cNvSpPr txBox="1"/>
            <p:nvPr/>
          </p:nvSpPr>
          <p:spPr>
            <a:xfrm>
              <a:off x="0" y="133350"/>
              <a:ext cx="14296232" cy="778510"/>
            </a:xfrm>
            <a:prstGeom prst="rect">
              <a:avLst/>
            </a:prstGeom>
          </p:spPr>
          <p:txBody>
            <a:bodyPr lIns="0" tIns="0" rIns="0" bIns="0" rtlCol="0" anchor="t">
              <a:spAutoFit/>
            </a:bodyPr>
            <a:lstStyle/>
            <a:p>
              <a:pPr algn="ctr">
                <a:lnSpc>
                  <a:spcPts val="3915"/>
                </a:lnSpc>
              </a:pPr>
              <a:r>
                <a:rPr lang="en-US" sz="4500" b="1">
                  <a:solidFill>
                    <a:srgbClr val="2C4600"/>
                  </a:solidFill>
                  <a:latin typeface="Century Gothic Paneuropean Bold"/>
                  <a:ea typeface="Century Gothic Paneuropean Bold"/>
                  <a:cs typeface="Century Gothic Paneuropean Bold"/>
                  <a:sym typeface="Century Gothic Paneuropean Bold"/>
                </a:rPr>
                <a:t>DASHBOARD OVERVIEW </a:t>
              </a:r>
            </a:p>
          </p:txBody>
        </p:sp>
        <p:sp>
          <p:nvSpPr>
            <p:cNvPr id="16" name="TextBox 16"/>
            <p:cNvSpPr txBox="1"/>
            <p:nvPr/>
          </p:nvSpPr>
          <p:spPr>
            <a:xfrm>
              <a:off x="2791456" y="1209233"/>
              <a:ext cx="21640800" cy="2866812"/>
            </a:xfrm>
            <a:prstGeom prst="rect">
              <a:avLst/>
            </a:prstGeom>
          </p:spPr>
          <p:txBody>
            <a:bodyPr lIns="0" tIns="0" rIns="0" bIns="0" rtlCol="0" anchor="t">
              <a:spAutoFit/>
            </a:bodyPr>
            <a:lstStyle/>
            <a:p>
              <a:pPr algn="l">
                <a:lnSpc>
                  <a:spcPts val="4340"/>
                </a:lnSpc>
              </a:pPr>
              <a:r>
                <a:rPr lang="en-US" sz="3100">
                  <a:solidFill>
                    <a:srgbClr val="2C4600"/>
                  </a:solidFill>
                  <a:latin typeface="Arimo"/>
                  <a:ea typeface="Arimo"/>
                  <a:cs typeface="Arimo"/>
                  <a:sym typeface="Arimo"/>
                </a:rPr>
                <a:t>The dashboard was designed to showcase key sales insights in a simple, interactive, and easy-to-use way. It helps stakeholders explore data in real time and make quick, informed decisions.</a:t>
              </a:r>
            </a:p>
            <a:p>
              <a:pPr algn="l">
                <a:lnSpc>
                  <a:spcPts val="4340"/>
                </a:lnSpc>
              </a:pPr>
              <a:endParaRPr lang="en-US" sz="3100">
                <a:solidFill>
                  <a:srgbClr val="2C4600"/>
                </a:solidFill>
                <a:latin typeface="Arimo"/>
                <a:ea typeface="Arimo"/>
                <a:cs typeface="Arimo"/>
                <a:sym typeface="Arimo"/>
              </a:endParaRPr>
            </a:p>
          </p:txBody>
        </p:sp>
        <p:sp>
          <p:nvSpPr>
            <p:cNvPr id="17" name="TextBox 17"/>
            <p:cNvSpPr txBox="1"/>
            <p:nvPr/>
          </p:nvSpPr>
          <p:spPr>
            <a:xfrm>
              <a:off x="2791456" y="4948867"/>
              <a:ext cx="20332293" cy="3613487"/>
            </a:xfrm>
            <a:prstGeom prst="rect">
              <a:avLst/>
            </a:prstGeom>
          </p:spPr>
          <p:txBody>
            <a:bodyPr lIns="0" tIns="0" rIns="0" bIns="0" rtlCol="0" anchor="t">
              <a:spAutoFit/>
            </a:bodyPr>
            <a:lstStyle/>
            <a:p>
              <a:pPr algn="just">
                <a:lnSpc>
                  <a:spcPts val="4371"/>
                </a:lnSpc>
              </a:pPr>
              <a:r>
                <a:rPr lang="en-US" sz="3100" b="1">
                  <a:solidFill>
                    <a:srgbClr val="2C4600"/>
                  </a:solidFill>
                  <a:latin typeface="Arimo Bold"/>
                  <a:ea typeface="Arimo Bold"/>
                  <a:cs typeface="Arimo Bold"/>
                  <a:sym typeface="Arimo Bold"/>
                </a:rPr>
                <a:t>KPIs: </a:t>
              </a:r>
              <a:r>
                <a:rPr lang="en-US" sz="3100">
                  <a:solidFill>
                    <a:srgbClr val="2C4600"/>
                  </a:solidFill>
                  <a:latin typeface="Arimo"/>
                  <a:ea typeface="Arimo"/>
                  <a:cs typeface="Arimo"/>
                  <a:sym typeface="Arimo"/>
                </a:rPr>
                <a:t>The dashboard highlights key performance indicators (KPIs) such as total sales, average sales per order, top-performing product categories, and overall sales trends.</a:t>
              </a:r>
            </a:p>
            <a:p>
              <a:pPr algn="just">
                <a:lnSpc>
                  <a:spcPts val="4340"/>
                </a:lnSpc>
              </a:pPr>
              <a:r>
                <a:rPr lang="en-US" sz="3100" b="1">
                  <a:solidFill>
                    <a:srgbClr val="2C4600"/>
                  </a:solidFill>
                  <a:latin typeface="Arimo Bold"/>
                  <a:ea typeface="Arimo Bold"/>
                  <a:cs typeface="Arimo Bold"/>
                  <a:sym typeface="Arimo Bold"/>
                </a:rPr>
                <a:t>Slicer:</a:t>
              </a:r>
              <a:r>
                <a:rPr lang="en-US" sz="3100">
                  <a:solidFill>
                    <a:srgbClr val="2C4600"/>
                  </a:solidFill>
                  <a:latin typeface="Arimo"/>
                  <a:ea typeface="Arimo"/>
                  <a:cs typeface="Arimo"/>
                  <a:sym typeface="Arimo"/>
                </a:rPr>
                <a:t> Interactive filters for dimensions such as segment and category let users easily explore and drill down into specific data segments.</a:t>
              </a:r>
            </a:p>
            <a:p>
              <a:pPr algn="just">
                <a:lnSpc>
                  <a:spcPts val="4340"/>
                </a:lnSpc>
              </a:pPr>
              <a:endParaRPr lang="en-US" sz="3100">
                <a:solidFill>
                  <a:srgbClr val="2C4600"/>
                </a:solidFill>
                <a:latin typeface="Arimo"/>
                <a:ea typeface="Arimo"/>
                <a:cs typeface="Arimo"/>
                <a:sym typeface="Arimo"/>
              </a:endParaRPr>
            </a:p>
          </p:txBody>
        </p:sp>
        <p:sp>
          <p:nvSpPr>
            <p:cNvPr id="18" name="TextBox 18"/>
            <p:cNvSpPr txBox="1"/>
            <p:nvPr/>
          </p:nvSpPr>
          <p:spPr>
            <a:xfrm>
              <a:off x="2044384" y="3753465"/>
              <a:ext cx="8453274" cy="778510"/>
            </a:xfrm>
            <a:prstGeom prst="rect">
              <a:avLst/>
            </a:prstGeom>
          </p:spPr>
          <p:txBody>
            <a:bodyPr lIns="0" tIns="0" rIns="0" bIns="0" rtlCol="0" anchor="t">
              <a:spAutoFit/>
            </a:bodyPr>
            <a:lstStyle/>
            <a:p>
              <a:pPr algn="ctr">
                <a:lnSpc>
                  <a:spcPts val="3915"/>
                </a:lnSpc>
              </a:pPr>
              <a:r>
                <a:rPr lang="en-US" sz="4500" b="1">
                  <a:solidFill>
                    <a:srgbClr val="2C4600"/>
                  </a:solidFill>
                  <a:latin typeface="Century Gothic Paneuropean Bold"/>
                  <a:ea typeface="Century Gothic Paneuropean Bold"/>
                  <a:cs typeface="Century Gothic Paneuropean Bold"/>
                  <a:sym typeface="Century Gothic Paneuropean Bold"/>
                </a:rPr>
                <a:t>KEY COMPONENTS:</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4F0D8"/>
        </a:solidFill>
        <a:effectLst/>
      </p:bgPr>
    </p:bg>
    <p:spTree>
      <p:nvGrpSpPr>
        <p:cNvPr id="1" name=""/>
        <p:cNvGrpSpPr/>
        <p:nvPr/>
      </p:nvGrpSpPr>
      <p:grpSpPr>
        <a:xfrm>
          <a:off x="0" y="0"/>
          <a:ext cx="0" cy="0"/>
          <a:chOff x="0" y="0"/>
          <a:chExt cx="0" cy="0"/>
        </a:xfrm>
      </p:grpSpPr>
      <p:sp>
        <p:nvSpPr>
          <p:cNvPr id="2" name="Freeform 2"/>
          <p:cNvSpPr/>
          <p:nvPr/>
        </p:nvSpPr>
        <p:spPr>
          <a:xfrm flipV="1">
            <a:off x="335861" y="-775412"/>
            <a:ext cx="1489050" cy="2519931"/>
          </a:xfrm>
          <a:custGeom>
            <a:avLst/>
            <a:gdLst/>
            <a:ahLst/>
            <a:cxnLst/>
            <a:rect l="l" t="t" r="r" b="b"/>
            <a:pathLst>
              <a:path w="1489050" h="2519931">
                <a:moveTo>
                  <a:pt x="0" y="2519931"/>
                </a:moveTo>
                <a:lnTo>
                  <a:pt x="1489050" y="2519931"/>
                </a:lnTo>
                <a:lnTo>
                  <a:pt x="1489050" y="0"/>
                </a:lnTo>
                <a:lnTo>
                  <a:pt x="0" y="0"/>
                </a:lnTo>
                <a:lnTo>
                  <a:pt x="0" y="2519931"/>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5532725" y="978006"/>
            <a:ext cx="6538302" cy="550545"/>
          </a:xfrm>
          <a:prstGeom prst="rect">
            <a:avLst/>
          </a:prstGeom>
        </p:spPr>
        <p:txBody>
          <a:bodyPr lIns="0" tIns="0" rIns="0" bIns="0" rtlCol="0" anchor="t">
            <a:spAutoFit/>
          </a:bodyPr>
          <a:lstStyle/>
          <a:p>
            <a:pPr algn="ctr">
              <a:lnSpc>
                <a:spcPts val="3915"/>
              </a:lnSpc>
            </a:pPr>
            <a:r>
              <a:rPr lang="en-US" sz="4500" b="1">
                <a:solidFill>
                  <a:srgbClr val="2C4600"/>
                </a:solidFill>
                <a:latin typeface="Century Gothic Paneuropean Bold"/>
                <a:ea typeface="Century Gothic Paneuropean Bold"/>
                <a:cs typeface="Century Gothic Paneuropean Bold"/>
                <a:sym typeface="Century Gothic Paneuropean Bold"/>
              </a:rPr>
              <a:t>VALUES </a:t>
            </a:r>
          </a:p>
        </p:txBody>
      </p:sp>
      <p:grpSp>
        <p:nvGrpSpPr>
          <p:cNvPr id="4" name="Group 4"/>
          <p:cNvGrpSpPr/>
          <p:nvPr/>
        </p:nvGrpSpPr>
        <p:grpSpPr>
          <a:xfrm>
            <a:off x="335861" y="1988374"/>
            <a:ext cx="17616278" cy="7269926"/>
            <a:chOff x="0" y="0"/>
            <a:chExt cx="1886073" cy="778349"/>
          </a:xfrm>
        </p:grpSpPr>
        <p:sp>
          <p:nvSpPr>
            <p:cNvPr id="5" name="Freeform 5"/>
            <p:cNvSpPr/>
            <p:nvPr/>
          </p:nvSpPr>
          <p:spPr>
            <a:xfrm>
              <a:off x="0" y="0"/>
              <a:ext cx="1886073" cy="778349"/>
            </a:xfrm>
            <a:custGeom>
              <a:avLst/>
              <a:gdLst/>
              <a:ahLst/>
              <a:cxnLst/>
              <a:rect l="l" t="t" r="r" b="b"/>
              <a:pathLst>
                <a:path w="1886073" h="778349">
                  <a:moveTo>
                    <a:pt x="0" y="0"/>
                  </a:moveTo>
                  <a:lnTo>
                    <a:pt x="1886073" y="0"/>
                  </a:lnTo>
                  <a:lnTo>
                    <a:pt x="1886073" y="778349"/>
                  </a:lnTo>
                  <a:lnTo>
                    <a:pt x="0" y="778349"/>
                  </a:lnTo>
                  <a:close/>
                </a:path>
              </a:pathLst>
            </a:custGeom>
            <a:blipFill>
              <a:blip r:embed="rId4"/>
              <a:stretch>
                <a:fillRect t="-2552" b="-2552"/>
              </a:stretch>
            </a:blipFill>
          </p:spPr>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4F0D8"/>
        </a:solidFill>
        <a:effectLst/>
      </p:bgPr>
    </p:bg>
    <p:spTree>
      <p:nvGrpSpPr>
        <p:cNvPr id="1" name=""/>
        <p:cNvGrpSpPr/>
        <p:nvPr/>
      </p:nvGrpSpPr>
      <p:grpSpPr>
        <a:xfrm>
          <a:off x="0" y="0"/>
          <a:ext cx="0" cy="0"/>
          <a:chOff x="0" y="0"/>
          <a:chExt cx="0" cy="0"/>
        </a:xfrm>
      </p:grpSpPr>
      <p:sp>
        <p:nvSpPr>
          <p:cNvPr id="2" name="Freeform 2"/>
          <p:cNvSpPr/>
          <p:nvPr/>
        </p:nvSpPr>
        <p:spPr>
          <a:xfrm rot="9891071">
            <a:off x="13768657" y="-4710460"/>
            <a:ext cx="8328590" cy="6600408"/>
          </a:xfrm>
          <a:custGeom>
            <a:avLst/>
            <a:gdLst/>
            <a:ahLst/>
            <a:cxnLst/>
            <a:rect l="l" t="t" r="r" b="b"/>
            <a:pathLst>
              <a:path w="8328590" h="6600408">
                <a:moveTo>
                  <a:pt x="0" y="0"/>
                </a:moveTo>
                <a:lnTo>
                  <a:pt x="8328591" y="0"/>
                </a:lnTo>
                <a:lnTo>
                  <a:pt x="8328591" y="6600407"/>
                </a:lnTo>
                <a:lnTo>
                  <a:pt x="0" y="66004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9891071">
            <a:off x="10247754" y="-9577219"/>
            <a:ext cx="10608642" cy="11546822"/>
          </a:xfrm>
          <a:custGeom>
            <a:avLst/>
            <a:gdLst/>
            <a:ahLst/>
            <a:cxnLst/>
            <a:rect l="l" t="t" r="r" b="b"/>
            <a:pathLst>
              <a:path w="10608642" h="11546822">
                <a:moveTo>
                  <a:pt x="0" y="0"/>
                </a:moveTo>
                <a:lnTo>
                  <a:pt x="10608642" y="0"/>
                </a:lnTo>
                <a:lnTo>
                  <a:pt x="10608642"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9891071">
            <a:off x="14920094" y="-1588462"/>
            <a:ext cx="3173489" cy="3769803"/>
          </a:xfrm>
          <a:custGeom>
            <a:avLst/>
            <a:gdLst/>
            <a:ahLst/>
            <a:cxnLst/>
            <a:rect l="l" t="t" r="r" b="b"/>
            <a:pathLst>
              <a:path w="3173489" h="3769803">
                <a:moveTo>
                  <a:pt x="0" y="0"/>
                </a:moveTo>
                <a:lnTo>
                  <a:pt x="3173489" y="0"/>
                </a:lnTo>
                <a:lnTo>
                  <a:pt x="3173489" y="3769803"/>
                </a:lnTo>
                <a:lnTo>
                  <a:pt x="0" y="376980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9891071">
            <a:off x="12698710" y="-2489869"/>
            <a:ext cx="2356658" cy="4114800"/>
          </a:xfrm>
          <a:custGeom>
            <a:avLst/>
            <a:gdLst/>
            <a:ahLst/>
            <a:cxnLst/>
            <a:rect l="l" t="t" r="r" b="b"/>
            <a:pathLst>
              <a:path w="2356658" h="4114800">
                <a:moveTo>
                  <a:pt x="0" y="0"/>
                </a:moveTo>
                <a:lnTo>
                  <a:pt x="2356658" y="0"/>
                </a:lnTo>
                <a:lnTo>
                  <a:pt x="235665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flipV="1">
            <a:off x="0" y="-658565"/>
            <a:ext cx="1489050" cy="2519931"/>
          </a:xfrm>
          <a:custGeom>
            <a:avLst/>
            <a:gdLst/>
            <a:ahLst/>
            <a:cxnLst/>
            <a:rect l="l" t="t" r="r" b="b"/>
            <a:pathLst>
              <a:path w="1489050" h="2519931">
                <a:moveTo>
                  <a:pt x="0" y="2519931"/>
                </a:moveTo>
                <a:lnTo>
                  <a:pt x="1489050" y="2519931"/>
                </a:lnTo>
                <a:lnTo>
                  <a:pt x="1489050" y="0"/>
                </a:lnTo>
                <a:lnTo>
                  <a:pt x="0" y="0"/>
                </a:lnTo>
                <a:lnTo>
                  <a:pt x="0" y="2519931"/>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a:off x="9881220" y="5976428"/>
            <a:ext cx="6910817" cy="3405279"/>
          </a:xfrm>
          <a:custGeom>
            <a:avLst/>
            <a:gdLst/>
            <a:ahLst/>
            <a:cxnLst/>
            <a:rect l="l" t="t" r="r" b="b"/>
            <a:pathLst>
              <a:path w="6910817" h="3405279">
                <a:moveTo>
                  <a:pt x="0" y="0"/>
                </a:moveTo>
                <a:lnTo>
                  <a:pt x="6910817" y="0"/>
                </a:lnTo>
                <a:lnTo>
                  <a:pt x="6910817" y="3405279"/>
                </a:lnTo>
                <a:lnTo>
                  <a:pt x="0" y="3405279"/>
                </a:lnTo>
                <a:lnTo>
                  <a:pt x="0" y="0"/>
                </a:lnTo>
                <a:close/>
              </a:path>
            </a:pathLst>
          </a:custGeom>
          <a:blipFill>
            <a:blip r:embed="rId12"/>
            <a:stretch>
              <a:fillRect l="-1495" r="-1495" b="-58334"/>
            </a:stretch>
          </a:blipFill>
        </p:spPr>
      </p:sp>
      <p:sp>
        <p:nvSpPr>
          <p:cNvPr id="8" name="TextBox 8"/>
          <p:cNvSpPr txBox="1"/>
          <p:nvPr/>
        </p:nvSpPr>
        <p:spPr>
          <a:xfrm>
            <a:off x="822101" y="1854347"/>
            <a:ext cx="15684738" cy="4877337"/>
          </a:xfrm>
          <a:prstGeom prst="rect">
            <a:avLst/>
          </a:prstGeom>
        </p:spPr>
        <p:txBody>
          <a:bodyPr lIns="0" tIns="0" rIns="0" bIns="0" rtlCol="0" anchor="t">
            <a:spAutoFit/>
          </a:bodyPr>
          <a:lstStyle/>
          <a:p>
            <a:pPr algn="just">
              <a:lnSpc>
                <a:spcPts val="4912"/>
              </a:lnSpc>
            </a:pPr>
            <a:r>
              <a:rPr lang="en-US" sz="2640">
                <a:solidFill>
                  <a:srgbClr val="2C4600"/>
                </a:solidFill>
                <a:latin typeface="Arimo"/>
                <a:ea typeface="Arimo"/>
                <a:cs typeface="Arimo"/>
                <a:sym typeface="Arimo"/>
              </a:rPr>
              <a:t>A What-If Analysis was carried out to evaluate how different discount rates </a:t>
            </a:r>
          </a:p>
          <a:p>
            <a:pPr algn="just">
              <a:lnSpc>
                <a:spcPts val="4912"/>
              </a:lnSpc>
            </a:pPr>
            <a:r>
              <a:rPr lang="en-US" sz="2640">
                <a:solidFill>
                  <a:srgbClr val="2C4600"/>
                </a:solidFill>
                <a:latin typeface="Arimo"/>
                <a:ea typeface="Arimo"/>
                <a:cs typeface="Arimo"/>
                <a:sym typeface="Arimo"/>
              </a:rPr>
              <a:t>affect total revenue and profit.</a:t>
            </a:r>
          </a:p>
          <a:p>
            <a:pPr algn="just">
              <a:lnSpc>
                <a:spcPts val="4912"/>
              </a:lnSpc>
            </a:pPr>
            <a:r>
              <a:rPr lang="en-US" sz="2640">
                <a:solidFill>
                  <a:srgbClr val="2C4600"/>
                </a:solidFill>
                <a:latin typeface="Arimo"/>
                <a:ea typeface="Arimo"/>
                <a:cs typeface="Arimo"/>
                <a:sym typeface="Arimo"/>
              </a:rPr>
              <a:t>The results showed that while a 5% discount slightly increased sales volume with minimal impact on profit, a 10% discount led to a larger boost in sales but noticeably reduced overall profit margins.</a:t>
            </a:r>
          </a:p>
          <a:p>
            <a:pPr marL="570187" lvl="1" indent="-285093" algn="just">
              <a:lnSpc>
                <a:spcPts val="4912"/>
              </a:lnSpc>
              <a:buFont typeface="Arial"/>
              <a:buChar char="•"/>
            </a:pPr>
            <a:r>
              <a:rPr lang="en-US" sz="2640">
                <a:solidFill>
                  <a:srgbClr val="2C4600"/>
                </a:solidFill>
                <a:latin typeface="Arimo"/>
                <a:ea typeface="Arimo"/>
                <a:cs typeface="Arimo"/>
                <a:sym typeface="Arimo"/>
              </a:rPr>
              <a:t>Net Value Calculation: =Sales* (1-Discount)*Quantity</a:t>
            </a:r>
          </a:p>
          <a:p>
            <a:pPr marL="570187" lvl="1" indent="-285093" algn="just">
              <a:lnSpc>
                <a:spcPts val="4912"/>
              </a:lnSpc>
              <a:buFont typeface="Arial"/>
              <a:buChar char="•"/>
            </a:pPr>
            <a:r>
              <a:rPr lang="en-US" sz="2640">
                <a:solidFill>
                  <a:srgbClr val="2C4600"/>
                </a:solidFill>
                <a:latin typeface="Arimo"/>
                <a:ea typeface="Arimo"/>
                <a:cs typeface="Arimo"/>
                <a:sym typeface="Arimo"/>
              </a:rPr>
              <a:t>5% Decreased Discount: =Netvalue*(1-Discount)-0.05)</a:t>
            </a:r>
          </a:p>
          <a:p>
            <a:pPr marL="570187" lvl="1" indent="-285093" algn="just">
              <a:lnSpc>
                <a:spcPts val="4912"/>
              </a:lnSpc>
              <a:buFont typeface="Arial"/>
              <a:buChar char="•"/>
            </a:pPr>
            <a:r>
              <a:rPr lang="en-US" sz="2640">
                <a:solidFill>
                  <a:srgbClr val="2C4600"/>
                </a:solidFill>
                <a:latin typeface="Arimo"/>
                <a:ea typeface="Arimo"/>
                <a:cs typeface="Arimo"/>
                <a:sym typeface="Arimo"/>
              </a:rPr>
              <a:t>10% Increase in sales: =Netvalue*1.1</a:t>
            </a:r>
          </a:p>
          <a:p>
            <a:pPr algn="just">
              <a:lnSpc>
                <a:spcPts val="4384"/>
              </a:lnSpc>
            </a:pPr>
            <a:endParaRPr lang="en-US" sz="2640">
              <a:solidFill>
                <a:srgbClr val="2C4600"/>
              </a:solidFill>
              <a:latin typeface="Arimo"/>
              <a:ea typeface="Arimo"/>
              <a:cs typeface="Arimo"/>
              <a:sym typeface="Arimo"/>
            </a:endParaRPr>
          </a:p>
        </p:txBody>
      </p:sp>
      <p:sp>
        <p:nvSpPr>
          <p:cNvPr id="9" name="Freeform 9"/>
          <p:cNvSpPr/>
          <p:nvPr/>
        </p:nvSpPr>
        <p:spPr>
          <a:xfrm>
            <a:off x="5159075" y="6731684"/>
            <a:ext cx="4233765" cy="2650023"/>
          </a:xfrm>
          <a:custGeom>
            <a:avLst/>
            <a:gdLst/>
            <a:ahLst/>
            <a:cxnLst/>
            <a:rect l="l" t="t" r="r" b="b"/>
            <a:pathLst>
              <a:path w="4233765" h="2650023">
                <a:moveTo>
                  <a:pt x="0" y="0"/>
                </a:moveTo>
                <a:lnTo>
                  <a:pt x="4233765" y="0"/>
                </a:lnTo>
                <a:lnTo>
                  <a:pt x="4233765" y="2650023"/>
                </a:lnTo>
                <a:lnTo>
                  <a:pt x="0" y="2650023"/>
                </a:lnTo>
                <a:lnTo>
                  <a:pt x="0" y="0"/>
                </a:lnTo>
                <a:close/>
              </a:path>
            </a:pathLst>
          </a:custGeom>
          <a:blipFill>
            <a:blip r:embed="rId13"/>
            <a:stretch>
              <a:fillRect/>
            </a:stretch>
          </a:blipFill>
        </p:spPr>
      </p:sp>
      <p:sp>
        <p:nvSpPr>
          <p:cNvPr id="10" name="TextBox 10"/>
          <p:cNvSpPr txBox="1"/>
          <p:nvPr/>
        </p:nvSpPr>
        <p:spPr>
          <a:xfrm>
            <a:off x="3076602" y="1162050"/>
            <a:ext cx="7041473" cy="550545"/>
          </a:xfrm>
          <a:prstGeom prst="rect">
            <a:avLst/>
          </a:prstGeom>
        </p:spPr>
        <p:txBody>
          <a:bodyPr lIns="0" tIns="0" rIns="0" bIns="0" rtlCol="0" anchor="t">
            <a:spAutoFit/>
          </a:bodyPr>
          <a:lstStyle/>
          <a:p>
            <a:pPr algn="l">
              <a:lnSpc>
                <a:spcPts val="3915"/>
              </a:lnSpc>
            </a:pPr>
            <a:r>
              <a:rPr lang="en-US" sz="4500" b="1">
                <a:solidFill>
                  <a:srgbClr val="2C4600"/>
                </a:solidFill>
                <a:latin typeface="Century Gothic Paneuropean Bold"/>
                <a:ea typeface="Century Gothic Paneuropean Bold"/>
                <a:cs typeface="Century Gothic Paneuropean Bold"/>
                <a:sym typeface="Century Gothic Paneuropean Bold"/>
              </a:rPr>
              <a:t>WHAT-IF ANALYSIS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4F0D8"/>
        </a:solidFill>
        <a:effectLst/>
      </p:bgPr>
    </p:bg>
    <p:spTree>
      <p:nvGrpSpPr>
        <p:cNvPr id="1" name=""/>
        <p:cNvGrpSpPr/>
        <p:nvPr/>
      </p:nvGrpSpPr>
      <p:grpSpPr>
        <a:xfrm>
          <a:off x="0" y="0"/>
          <a:ext cx="0" cy="0"/>
          <a:chOff x="0" y="0"/>
          <a:chExt cx="0" cy="0"/>
        </a:xfrm>
      </p:grpSpPr>
      <p:grpSp>
        <p:nvGrpSpPr>
          <p:cNvPr id="2" name="Group 2"/>
          <p:cNvGrpSpPr/>
          <p:nvPr/>
        </p:nvGrpSpPr>
        <p:grpSpPr>
          <a:xfrm>
            <a:off x="9144000" y="-10631170"/>
            <a:ext cx="13891641" cy="13917896"/>
            <a:chOff x="0" y="0"/>
            <a:chExt cx="18522188" cy="18557195"/>
          </a:xfrm>
        </p:grpSpPr>
        <p:sp>
          <p:nvSpPr>
            <p:cNvPr id="3" name="Freeform 3"/>
            <p:cNvSpPr/>
            <p:nvPr/>
          </p:nvSpPr>
          <p:spPr>
            <a:xfrm rot="9891071">
              <a:off x="6460436" y="8069728"/>
              <a:ext cx="11104787" cy="8800544"/>
            </a:xfrm>
            <a:custGeom>
              <a:avLst/>
              <a:gdLst/>
              <a:ahLst/>
              <a:cxnLst/>
              <a:rect l="l" t="t" r="r" b="b"/>
              <a:pathLst>
                <a:path w="11104787" h="8800544">
                  <a:moveTo>
                    <a:pt x="0" y="0"/>
                  </a:moveTo>
                  <a:lnTo>
                    <a:pt x="11104787" y="0"/>
                  </a:lnTo>
                  <a:lnTo>
                    <a:pt x="11104787" y="8800544"/>
                  </a:lnTo>
                  <a:lnTo>
                    <a:pt x="0" y="880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9891071">
              <a:off x="1765898" y="1580716"/>
              <a:ext cx="14144856" cy="15395762"/>
            </a:xfrm>
            <a:custGeom>
              <a:avLst/>
              <a:gdLst/>
              <a:ahLst/>
              <a:cxnLst/>
              <a:rect l="l" t="t" r="r" b="b"/>
              <a:pathLst>
                <a:path w="14144856" h="15395762">
                  <a:moveTo>
                    <a:pt x="0" y="0"/>
                  </a:moveTo>
                  <a:lnTo>
                    <a:pt x="14144857" y="0"/>
                  </a:lnTo>
                  <a:lnTo>
                    <a:pt x="14144857" y="15395763"/>
                  </a:lnTo>
                  <a:lnTo>
                    <a:pt x="0" y="1539576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9891071">
              <a:off x="8119241" y="12409009"/>
              <a:ext cx="4618551" cy="5486400"/>
            </a:xfrm>
            <a:custGeom>
              <a:avLst/>
              <a:gdLst/>
              <a:ahLst/>
              <a:cxnLst/>
              <a:rect l="l" t="t" r="r" b="b"/>
              <a:pathLst>
                <a:path w="4618551" h="5486400">
                  <a:moveTo>
                    <a:pt x="0" y="0"/>
                  </a:moveTo>
                  <a:lnTo>
                    <a:pt x="4618552" y="0"/>
                  </a:lnTo>
                  <a:lnTo>
                    <a:pt x="4618552" y="5486400"/>
                  </a:lnTo>
                  <a:lnTo>
                    <a:pt x="0" y="54864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9891071">
              <a:off x="4638557" y="11607142"/>
              <a:ext cx="3142211" cy="5486400"/>
            </a:xfrm>
            <a:custGeom>
              <a:avLst/>
              <a:gdLst/>
              <a:ahLst/>
              <a:cxnLst/>
              <a:rect l="l" t="t" r="r" b="b"/>
              <a:pathLst>
                <a:path w="3142211" h="5486400">
                  <a:moveTo>
                    <a:pt x="0" y="0"/>
                  </a:moveTo>
                  <a:lnTo>
                    <a:pt x="3142211" y="0"/>
                  </a:lnTo>
                  <a:lnTo>
                    <a:pt x="3142211" y="5486400"/>
                  </a:lnTo>
                  <a:lnTo>
                    <a:pt x="0" y="54864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grpSp>
        <p:nvGrpSpPr>
          <p:cNvPr id="7" name="Group 7"/>
          <p:cNvGrpSpPr/>
          <p:nvPr/>
        </p:nvGrpSpPr>
        <p:grpSpPr>
          <a:xfrm>
            <a:off x="-3664268" y="7318125"/>
            <a:ext cx="11141260" cy="12153173"/>
            <a:chOff x="0" y="0"/>
            <a:chExt cx="14855013" cy="16204230"/>
          </a:xfrm>
        </p:grpSpPr>
        <p:sp>
          <p:nvSpPr>
            <p:cNvPr id="8" name="Freeform 8"/>
            <p:cNvSpPr/>
            <p:nvPr/>
          </p:nvSpPr>
          <p:spPr>
            <a:xfrm>
              <a:off x="0" y="195992"/>
              <a:ext cx="11104787" cy="8800544"/>
            </a:xfrm>
            <a:custGeom>
              <a:avLst/>
              <a:gdLst/>
              <a:ahLst/>
              <a:cxnLst/>
              <a:rect l="l" t="t" r="r" b="b"/>
              <a:pathLst>
                <a:path w="11104787" h="8800544">
                  <a:moveTo>
                    <a:pt x="0" y="0"/>
                  </a:moveTo>
                  <a:lnTo>
                    <a:pt x="11104787" y="0"/>
                  </a:lnTo>
                  <a:lnTo>
                    <a:pt x="11104787" y="8800544"/>
                  </a:lnTo>
                  <a:lnTo>
                    <a:pt x="0" y="880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710157" y="808468"/>
              <a:ext cx="14144856" cy="15395762"/>
            </a:xfrm>
            <a:custGeom>
              <a:avLst/>
              <a:gdLst/>
              <a:ahLst/>
              <a:cxnLst/>
              <a:rect l="l" t="t" r="r" b="b"/>
              <a:pathLst>
                <a:path w="14144856" h="15395762">
                  <a:moveTo>
                    <a:pt x="0" y="0"/>
                  </a:moveTo>
                  <a:lnTo>
                    <a:pt x="14144856" y="0"/>
                  </a:lnTo>
                  <a:lnTo>
                    <a:pt x="14144856" y="15395762"/>
                  </a:lnTo>
                  <a:lnTo>
                    <a:pt x="0" y="153957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849365">
              <a:off x="5272395" y="481464"/>
              <a:ext cx="4618551" cy="5486400"/>
            </a:xfrm>
            <a:custGeom>
              <a:avLst/>
              <a:gdLst/>
              <a:ahLst/>
              <a:cxnLst/>
              <a:rect l="l" t="t" r="r" b="b"/>
              <a:pathLst>
                <a:path w="4618551" h="5486400">
                  <a:moveTo>
                    <a:pt x="0" y="0"/>
                  </a:moveTo>
                  <a:lnTo>
                    <a:pt x="4618551" y="0"/>
                  </a:lnTo>
                  <a:lnTo>
                    <a:pt x="4618551" y="5486400"/>
                  </a:lnTo>
                  <a:lnTo>
                    <a:pt x="0" y="54864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10491710" y="1853064"/>
              <a:ext cx="3142211" cy="5486400"/>
            </a:xfrm>
            <a:custGeom>
              <a:avLst/>
              <a:gdLst/>
              <a:ahLst/>
              <a:cxnLst/>
              <a:rect l="l" t="t" r="r" b="b"/>
              <a:pathLst>
                <a:path w="3142211" h="5486400">
                  <a:moveTo>
                    <a:pt x="0" y="0"/>
                  </a:moveTo>
                  <a:lnTo>
                    <a:pt x="3142211" y="0"/>
                  </a:lnTo>
                  <a:lnTo>
                    <a:pt x="3142211" y="5486400"/>
                  </a:lnTo>
                  <a:lnTo>
                    <a:pt x="0" y="54864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sp>
        <p:nvSpPr>
          <p:cNvPr id="12" name="Freeform 12"/>
          <p:cNvSpPr/>
          <p:nvPr/>
        </p:nvSpPr>
        <p:spPr>
          <a:xfrm flipV="1">
            <a:off x="0" y="-573213"/>
            <a:ext cx="1489050" cy="2519931"/>
          </a:xfrm>
          <a:custGeom>
            <a:avLst/>
            <a:gdLst/>
            <a:ahLst/>
            <a:cxnLst/>
            <a:rect l="l" t="t" r="r" b="b"/>
            <a:pathLst>
              <a:path w="1489050" h="2519931">
                <a:moveTo>
                  <a:pt x="0" y="2519931"/>
                </a:moveTo>
                <a:lnTo>
                  <a:pt x="1489050" y="2519931"/>
                </a:lnTo>
                <a:lnTo>
                  <a:pt x="1489050" y="0"/>
                </a:lnTo>
                <a:lnTo>
                  <a:pt x="0" y="0"/>
                </a:lnTo>
                <a:lnTo>
                  <a:pt x="0" y="2519931"/>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a:off x="16514775" y="8440138"/>
            <a:ext cx="1489050" cy="2519931"/>
          </a:xfrm>
          <a:custGeom>
            <a:avLst/>
            <a:gdLst/>
            <a:ahLst/>
            <a:cxnLst/>
            <a:rect l="l" t="t" r="r" b="b"/>
            <a:pathLst>
              <a:path w="1489050" h="2519931">
                <a:moveTo>
                  <a:pt x="0" y="0"/>
                </a:moveTo>
                <a:lnTo>
                  <a:pt x="1489050" y="0"/>
                </a:lnTo>
                <a:lnTo>
                  <a:pt x="1489050" y="2519931"/>
                </a:lnTo>
                <a:lnTo>
                  <a:pt x="0" y="251993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4" name="Freeform 14"/>
          <p:cNvSpPr/>
          <p:nvPr/>
        </p:nvSpPr>
        <p:spPr>
          <a:xfrm>
            <a:off x="9954683" y="2944779"/>
            <a:ext cx="7304617" cy="5368713"/>
          </a:xfrm>
          <a:custGeom>
            <a:avLst/>
            <a:gdLst/>
            <a:ahLst/>
            <a:cxnLst/>
            <a:rect l="l" t="t" r="r" b="b"/>
            <a:pathLst>
              <a:path w="7304617" h="5368713">
                <a:moveTo>
                  <a:pt x="0" y="0"/>
                </a:moveTo>
                <a:lnTo>
                  <a:pt x="7304617" y="0"/>
                </a:lnTo>
                <a:lnTo>
                  <a:pt x="7304617" y="5368712"/>
                </a:lnTo>
                <a:lnTo>
                  <a:pt x="0" y="5368712"/>
                </a:lnTo>
                <a:lnTo>
                  <a:pt x="0" y="0"/>
                </a:lnTo>
                <a:close/>
              </a:path>
            </a:pathLst>
          </a:custGeom>
          <a:blipFill>
            <a:blip r:embed="rId12"/>
            <a:stretch>
              <a:fillRect l="-3597" t="-1518" r="-294" b="-2595"/>
            </a:stretch>
          </a:blipFill>
        </p:spPr>
      </p:sp>
      <p:sp>
        <p:nvSpPr>
          <p:cNvPr id="15" name="TextBox 15"/>
          <p:cNvSpPr txBox="1"/>
          <p:nvPr/>
        </p:nvSpPr>
        <p:spPr>
          <a:xfrm>
            <a:off x="1355450" y="3078129"/>
            <a:ext cx="7789590" cy="550545"/>
          </a:xfrm>
          <a:prstGeom prst="rect">
            <a:avLst/>
          </a:prstGeom>
        </p:spPr>
        <p:txBody>
          <a:bodyPr lIns="0" tIns="0" rIns="0" bIns="0" rtlCol="0" anchor="t">
            <a:spAutoFit/>
          </a:bodyPr>
          <a:lstStyle/>
          <a:p>
            <a:pPr algn="ctr">
              <a:lnSpc>
                <a:spcPts val="3915"/>
              </a:lnSpc>
            </a:pPr>
            <a:r>
              <a:rPr lang="en-US" sz="4500" b="1">
                <a:solidFill>
                  <a:srgbClr val="2C4600"/>
                </a:solidFill>
                <a:latin typeface="Century Gothic Paneuropean Bold"/>
                <a:ea typeface="Century Gothic Paneuropean Bold"/>
                <a:cs typeface="Century Gothic Paneuropean Bold"/>
                <a:sym typeface="Century Gothic Paneuropean Bold"/>
              </a:rPr>
              <a:t>SCENARIO MANAGER</a:t>
            </a:r>
          </a:p>
        </p:txBody>
      </p:sp>
      <p:sp>
        <p:nvSpPr>
          <p:cNvPr id="16" name="TextBox 16"/>
          <p:cNvSpPr txBox="1"/>
          <p:nvPr/>
        </p:nvSpPr>
        <p:spPr>
          <a:xfrm>
            <a:off x="1028700" y="4123656"/>
            <a:ext cx="8443090" cy="3574199"/>
          </a:xfrm>
          <a:prstGeom prst="rect">
            <a:avLst/>
          </a:prstGeom>
        </p:spPr>
        <p:txBody>
          <a:bodyPr lIns="0" tIns="0" rIns="0" bIns="0" rtlCol="0" anchor="t">
            <a:spAutoFit/>
          </a:bodyPr>
          <a:lstStyle/>
          <a:p>
            <a:pPr marL="549161" lvl="1" indent="-274580" algn="just">
              <a:lnSpc>
                <a:spcPts val="3561"/>
              </a:lnSpc>
              <a:buFont typeface="Arial"/>
              <a:buChar char="•"/>
            </a:pPr>
            <a:r>
              <a:rPr lang="en-US" sz="2543">
                <a:solidFill>
                  <a:srgbClr val="2C4600"/>
                </a:solidFill>
                <a:latin typeface="Arimo"/>
                <a:ea typeface="Arimo"/>
                <a:cs typeface="Arimo"/>
                <a:sym typeface="Arimo"/>
              </a:rPr>
              <a:t>The Scenario Summary Tool in Excel was used to compare results from different What-If scenarios. Two discount scenarios — 5% and 10% — were created using Scenario Manager.</a:t>
            </a:r>
          </a:p>
          <a:p>
            <a:pPr marL="549161" lvl="1" indent="-274580" algn="just">
              <a:lnSpc>
                <a:spcPts val="3561"/>
              </a:lnSpc>
              <a:buFont typeface="Arial"/>
              <a:buChar char="•"/>
            </a:pPr>
            <a:r>
              <a:rPr lang="en-US" sz="2543">
                <a:solidFill>
                  <a:srgbClr val="2C4600"/>
                </a:solidFill>
                <a:latin typeface="Arimo"/>
                <a:ea typeface="Arimo"/>
                <a:cs typeface="Arimo"/>
                <a:sym typeface="Arimo"/>
              </a:rPr>
              <a:t>The summary report displayed how changes in the discount rate affected key metrics like Total Sales, Net Revenue, and Profit. This made it easier to analyze and decide which discount strategy works best.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4F0D8"/>
        </a:solidFill>
        <a:effectLst/>
      </p:bgPr>
    </p:bg>
    <p:spTree>
      <p:nvGrpSpPr>
        <p:cNvPr id="1" name=""/>
        <p:cNvGrpSpPr/>
        <p:nvPr/>
      </p:nvGrpSpPr>
      <p:grpSpPr>
        <a:xfrm>
          <a:off x="0" y="0"/>
          <a:ext cx="0" cy="0"/>
          <a:chOff x="0" y="0"/>
          <a:chExt cx="0" cy="0"/>
        </a:xfrm>
      </p:grpSpPr>
      <p:sp>
        <p:nvSpPr>
          <p:cNvPr id="2" name="Freeform 2"/>
          <p:cNvSpPr/>
          <p:nvPr/>
        </p:nvSpPr>
        <p:spPr>
          <a:xfrm rot="9891071">
            <a:off x="13768657" y="-4710460"/>
            <a:ext cx="8328590" cy="6600408"/>
          </a:xfrm>
          <a:custGeom>
            <a:avLst/>
            <a:gdLst/>
            <a:ahLst/>
            <a:cxnLst/>
            <a:rect l="l" t="t" r="r" b="b"/>
            <a:pathLst>
              <a:path w="8328590" h="6600408">
                <a:moveTo>
                  <a:pt x="0" y="0"/>
                </a:moveTo>
                <a:lnTo>
                  <a:pt x="8328591" y="0"/>
                </a:lnTo>
                <a:lnTo>
                  <a:pt x="8328591" y="6600407"/>
                </a:lnTo>
                <a:lnTo>
                  <a:pt x="0" y="66004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9891071">
            <a:off x="10247754" y="-9577219"/>
            <a:ext cx="10608642" cy="11546822"/>
          </a:xfrm>
          <a:custGeom>
            <a:avLst/>
            <a:gdLst/>
            <a:ahLst/>
            <a:cxnLst/>
            <a:rect l="l" t="t" r="r" b="b"/>
            <a:pathLst>
              <a:path w="10608642" h="11546822">
                <a:moveTo>
                  <a:pt x="0" y="0"/>
                </a:moveTo>
                <a:lnTo>
                  <a:pt x="10608642" y="0"/>
                </a:lnTo>
                <a:lnTo>
                  <a:pt x="10608642"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9891071">
            <a:off x="15012761" y="-14560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flipV="1">
            <a:off x="0" y="-627972"/>
            <a:ext cx="1489050" cy="2519931"/>
          </a:xfrm>
          <a:custGeom>
            <a:avLst/>
            <a:gdLst/>
            <a:ahLst/>
            <a:cxnLst/>
            <a:rect l="l" t="t" r="r" b="b"/>
            <a:pathLst>
              <a:path w="1489050" h="2519931">
                <a:moveTo>
                  <a:pt x="0" y="2519931"/>
                </a:moveTo>
                <a:lnTo>
                  <a:pt x="1489050" y="2519931"/>
                </a:lnTo>
                <a:lnTo>
                  <a:pt x="1489050" y="0"/>
                </a:lnTo>
                <a:lnTo>
                  <a:pt x="0" y="0"/>
                </a:lnTo>
                <a:lnTo>
                  <a:pt x="0" y="2519931"/>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6514775" y="8229600"/>
            <a:ext cx="1489050" cy="2519931"/>
          </a:xfrm>
          <a:custGeom>
            <a:avLst/>
            <a:gdLst/>
            <a:ahLst/>
            <a:cxnLst/>
            <a:rect l="l" t="t" r="r" b="b"/>
            <a:pathLst>
              <a:path w="1489050" h="2519931">
                <a:moveTo>
                  <a:pt x="0" y="0"/>
                </a:moveTo>
                <a:lnTo>
                  <a:pt x="1489050" y="0"/>
                </a:lnTo>
                <a:lnTo>
                  <a:pt x="1489050" y="2519931"/>
                </a:lnTo>
                <a:lnTo>
                  <a:pt x="0" y="251993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a:off x="2359611" y="7475599"/>
            <a:ext cx="6981030" cy="1657985"/>
          </a:xfrm>
          <a:custGeom>
            <a:avLst/>
            <a:gdLst/>
            <a:ahLst/>
            <a:cxnLst/>
            <a:rect l="l" t="t" r="r" b="b"/>
            <a:pathLst>
              <a:path w="6981030" h="1657985">
                <a:moveTo>
                  <a:pt x="0" y="0"/>
                </a:moveTo>
                <a:lnTo>
                  <a:pt x="6981029" y="0"/>
                </a:lnTo>
                <a:lnTo>
                  <a:pt x="6981029" y="1657985"/>
                </a:lnTo>
                <a:lnTo>
                  <a:pt x="0" y="1657985"/>
                </a:lnTo>
                <a:lnTo>
                  <a:pt x="0" y="0"/>
                </a:lnTo>
                <a:close/>
              </a:path>
            </a:pathLst>
          </a:custGeom>
          <a:blipFill>
            <a:blip r:embed="rId10"/>
            <a:stretch>
              <a:fillRect l="-913" t="-79971" b="-48983"/>
            </a:stretch>
          </a:blipFill>
        </p:spPr>
      </p:sp>
      <p:sp>
        <p:nvSpPr>
          <p:cNvPr id="8" name="Freeform 8"/>
          <p:cNvSpPr/>
          <p:nvPr/>
        </p:nvSpPr>
        <p:spPr>
          <a:xfrm>
            <a:off x="10336229" y="6839802"/>
            <a:ext cx="4199064" cy="2929579"/>
          </a:xfrm>
          <a:custGeom>
            <a:avLst/>
            <a:gdLst/>
            <a:ahLst/>
            <a:cxnLst/>
            <a:rect l="l" t="t" r="r" b="b"/>
            <a:pathLst>
              <a:path w="4199064" h="2929579">
                <a:moveTo>
                  <a:pt x="0" y="0"/>
                </a:moveTo>
                <a:lnTo>
                  <a:pt x="4199063" y="0"/>
                </a:lnTo>
                <a:lnTo>
                  <a:pt x="4199063" y="2929579"/>
                </a:lnTo>
                <a:lnTo>
                  <a:pt x="0" y="2929579"/>
                </a:lnTo>
                <a:lnTo>
                  <a:pt x="0" y="0"/>
                </a:lnTo>
                <a:close/>
              </a:path>
            </a:pathLst>
          </a:custGeom>
          <a:blipFill>
            <a:blip r:embed="rId11"/>
            <a:stretch>
              <a:fillRect/>
            </a:stretch>
          </a:blipFill>
        </p:spPr>
      </p:sp>
      <p:sp>
        <p:nvSpPr>
          <p:cNvPr id="9" name="TextBox 9"/>
          <p:cNvSpPr txBox="1"/>
          <p:nvPr/>
        </p:nvSpPr>
        <p:spPr>
          <a:xfrm>
            <a:off x="3003546" y="1412065"/>
            <a:ext cx="5693159" cy="771525"/>
          </a:xfrm>
          <a:prstGeom prst="rect">
            <a:avLst/>
          </a:prstGeom>
        </p:spPr>
        <p:txBody>
          <a:bodyPr lIns="0" tIns="0" rIns="0" bIns="0" rtlCol="0" anchor="t">
            <a:spAutoFit/>
          </a:bodyPr>
          <a:lstStyle/>
          <a:p>
            <a:pPr algn="l">
              <a:lnSpc>
                <a:spcPts val="6299"/>
              </a:lnSpc>
              <a:spcBef>
                <a:spcPct val="0"/>
              </a:spcBef>
            </a:pPr>
            <a:r>
              <a:rPr lang="en-US" sz="4500" b="1">
                <a:solidFill>
                  <a:srgbClr val="2C4600"/>
                </a:solidFill>
                <a:latin typeface="Century Gothic Paneuropean Bold"/>
                <a:ea typeface="Century Gothic Paneuropean Bold"/>
                <a:cs typeface="Century Gothic Paneuropean Bold"/>
                <a:sym typeface="Century Gothic Paneuropean Bold"/>
              </a:rPr>
              <a:t> GOAL SEEK</a:t>
            </a:r>
          </a:p>
        </p:txBody>
      </p:sp>
      <p:sp>
        <p:nvSpPr>
          <p:cNvPr id="10" name="TextBox 10"/>
          <p:cNvSpPr txBox="1"/>
          <p:nvPr/>
        </p:nvSpPr>
        <p:spPr>
          <a:xfrm>
            <a:off x="972943" y="2583640"/>
            <a:ext cx="15900774" cy="1066800"/>
          </a:xfrm>
          <a:prstGeom prst="rect">
            <a:avLst/>
          </a:prstGeom>
        </p:spPr>
        <p:txBody>
          <a:bodyPr lIns="0" tIns="0" rIns="0" bIns="0" rtlCol="0" anchor="t">
            <a:spAutoFit/>
          </a:bodyPr>
          <a:lstStyle/>
          <a:p>
            <a:pPr algn="just">
              <a:lnSpc>
                <a:spcPts val="4200"/>
              </a:lnSpc>
            </a:pPr>
            <a:r>
              <a:rPr lang="en-US" sz="3000">
                <a:solidFill>
                  <a:srgbClr val="2C4600"/>
                </a:solidFill>
                <a:latin typeface="Arimo"/>
                <a:ea typeface="Arimo"/>
                <a:cs typeface="Arimo"/>
                <a:sym typeface="Arimo"/>
              </a:rPr>
              <a:t>The Goal Seek was applied to find the number of units required, based on the selling price per unit and average discount rate.</a:t>
            </a:r>
          </a:p>
        </p:txBody>
      </p:sp>
      <p:sp>
        <p:nvSpPr>
          <p:cNvPr id="11" name="TextBox 11"/>
          <p:cNvSpPr txBox="1"/>
          <p:nvPr/>
        </p:nvSpPr>
        <p:spPr>
          <a:xfrm>
            <a:off x="552662" y="4060015"/>
            <a:ext cx="21336876" cy="3079115"/>
          </a:xfrm>
          <a:prstGeom prst="rect">
            <a:avLst/>
          </a:prstGeom>
        </p:spPr>
        <p:txBody>
          <a:bodyPr lIns="0" tIns="0" rIns="0" bIns="0" rtlCol="0" anchor="t">
            <a:spAutoFit/>
          </a:bodyPr>
          <a:lstStyle/>
          <a:p>
            <a:pPr marL="626111" lvl="1" indent="-313055" algn="just">
              <a:lnSpc>
                <a:spcPts val="4060"/>
              </a:lnSpc>
              <a:buFont typeface="Arial"/>
              <a:buChar char="•"/>
            </a:pPr>
            <a:r>
              <a:rPr lang="en-US" sz="2900">
                <a:solidFill>
                  <a:srgbClr val="2C4600"/>
                </a:solidFill>
                <a:latin typeface="Arimo"/>
                <a:ea typeface="Arimo"/>
                <a:cs typeface="Arimo"/>
                <a:sym typeface="Arimo"/>
              </a:rPr>
              <a:t>In this analysis, default values were provided for Sales, Discount, and Quantity in the dataset.</a:t>
            </a:r>
          </a:p>
          <a:p>
            <a:pPr marL="626111" lvl="1" indent="-313055" algn="just">
              <a:lnSpc>
                <a:spcPts val="4060"/>
              </a:lnSpc>
              <a:buFont typeface="Arial"/>
              <a:buChar char="•"/>
            </a:pPr>
            <a:r>
              <a:rPr lang="en-US" sz="2900">
                <a:solidFill>
                  <a:srgbClr val="2C4600"/>
                </a:solidFill>
                <a:latin typeface="Arimo"/>
                <a:ea typeface="Arimo"/>
                <a:cs typeface="Arimo"/>
                <a:sym typeface="Arimo"/>
              </a:rPr>
              <a:t>The Goal Seek tool was then used to determine how changes in these values affect the Net Value.</a:t>
            </a:r>
          </a:p>
          <a:p>
            <a:pPr algn="just">
              <a:lnSpc>
                <a:spcPts val="4060"/>
              </a:lnSpc>
            </a:pPr>
            <a:r>
              <a:rPr lang="en-US" sz="2900">
                <a:solidFill>
                  <a:srgbClr val="2C4600"/>
                </a:solidFill>
                <a:latin typeface="Arimo"/>
                <a:ea typeface="Arimo"/>
                <a:cs typeface="Arimo"/>
                <a:sym typeface="Arimo"/>
              </a:rPr>
              <a:t>   </a:t>
            </a:r>
            <a:r>
              <a:rPr lang="en-US" sz="2900" b="1">
                <a:solidFill>
                  <a:srgbClr val="2C4600"/>
                </a:solidFill>
                <a:latin typeface="Arimo Bold"/>
                <a:ea typeface="Arimo Bold"/>
                <a:cs typeface="Arimo Bold"/>
                <a:sym typeface="Arimo Bold"/>
              </a:rPr>
              <a:t>Formulas:</a:t>
            </a:r>
          </a:p>
          <a:p>
            <a:pPr marL="626111" lvl="1" indent="-313055" algn="just">
              <a:lnSpc>
                <a:spcPts val="4060"/>
              </a:lnSpc>
              <a:buFont typeface="Arial"/>
              <a:buChar char="•"/>
            </a:pPr>
            <a:r>
              <a:rPr lang="en-US" sz="2900">
                <a:solidFill>
                  <a:srgbClr val="2C4600"/>
                </a:solidFill>
                <a:latin typeface="Arimo"/>
                <a:ea typeface="Arimo"/>
                <a:cs typeface="Arimo"/>
                <a:sym typeface="Arimo"/>
              </a:rPr>
              <a:t>Adjusted sales: =Sales * (1 - Discount) * Quantity</a:t>
            </a:r>
          </a:p>
          <a:p>
            <a:pPr marL="626111" lvl="1" indent="-313055" algn="just">
              <a:lnSpc>
                <a:spcPts val="4060"/>
              </a:lnSpc>
              <a:buFont typeface="Arial"/>
              <a:buChar char="•"/>
            </a:pPr>
            <a:r>
              <a:rPr lang="en-US" sz="2900">
                <a:solidFill>
                  <a:srgbClr val="2C4600"/>
                </a:solidFill>
                <a:latin typeface="Arimo"/>
                <a:ea typeface="Arimo"/>
                <a:cs typeface="Arimo"/>
                <a:sym typeface="Arimo"/>
              </a:rPr>
              <a:t>Discount (5%): =Net Value * (1 - 0.05)</a:t>
            </a:r>
          </a:p>
          <a:p>
            <a:pPr algn="just">
              <a:lnSpc>
                <a:spcPts val="4060"/>
              </a:lnSpc>
            </a:pPr>
            <a:endParaRPr lang="en-US" sz="2900">
              <a:solidFill>
                <a:srgbClr val="2C4600"/>
              </a:solidFill>
              <a:latin typeface="Arimo"/>
              <a:ea typeface="Arimo"/>
              <a:cs typeface="Arimo"/>
              <a:sym typeface="Arim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4F0D8"/>
        </a:solidFill>
        <a:effectLst/>
      </p:bgPr>
    </p:bg>
    <p:spTree>
      <p:nvGrpSpPr>
        <p:cNvPr id="1" name=""/>
        <p:cNvGrpSpPr/>
        <p:nvPr/>
      </p:nvGrpSpPr>
      <p:grpSpPr>
        <a:xfrm>
          <a:off x="0" y="0"/>
          <a:ext cx="0" cy="0"/>
          <a:chOff x="0" y="0"/>
          <a:chExt cx="0" cy="0"/>
        </a:xfrm>
      </p:grpSpPr>
      <p:sp>
        <p:nvSpPr>
          <p:cNvPr id="2" name="Freeform 2"/>
          <p:cNvSpPr/>
          <p:nvPr/>
        </p:nvSpPr>
        <p:spPr>
          <a:xfrm rot="9891071">
            <a:off x="13768657" y="-4710460"/>
            <a:ext cx="8328590" cy="6600408"/>
          </a:xfrm>
          <a:custGeom>
            <a:avLst/>
            <a:gdLst/>
            <a:ahLst/>
            <a:cxnLst/>
            <a:rect l="l" t="t" r="r" b="b"/>
            <a:pathLst>
              <a:path w="8328590" h="6600408">
                <a:moveTo>
                  <a:pt x="0" y="0"/>
                </a:moveTo>
                <a:lnTo>
                  <a:pt x="8328591" y="0"/>
                </a:lnTo>
                <a:lnTo>
                  <a:pt x="8328591" y="6600407"/>
                </a:lnTo>
                <a:lnTo>
                  <a:pt x="0" y="66004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9891071">
            <a:off x="10247754" y="-9577219"/>
            <a:ext cx="10608642" cy="11546822"/>
          </a:xfrm>
          <a:custGeom>
            <a:avLst/>
            <a:gdLst/>
            <a:ahLst/>
            <a:cxnLst/>
            <a:rect l="l" t="t" r="r" b="b"/>
            <a:pathLst>
              <a:path w="10608642" h="11546822">
                <a:moveTo>
                  <a:pt x="0" y="0"/>
                </a:moveTo>
                <a:lnTo>
                  <a:pt x="10608642" y="0"/>
                </a:lnTo>
                <a:lnTo>
                  <a:pt x="10608642"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9891071">
            <a:off x="15012761" y="-14560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9891071">
            <a:off x="12402248" y="-2057400"/>
            <a:ext cx="2356658" cy="4114800"/>
          </a:xfrm>
          <a:custGeom>
            <a:avLst/>
            <a:gdLst/>
            <a:ahLst/>
            <a:cxnLst/>
            <a:rect l="l" t="t" r="r" b="b"/>
            <a:pathLst>
              <a:path w="2356658" h="4114800">
                <a:moveTo>
                  <a:pt x="0" y="0"/>
                </a:moveTo>
                <a:lnTo>
                  <a:pt x="2356658" y="0"/>
                </a:lnTo>
                <a:lnTo>
                  <a:pt x="235665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flipV="1">
            <a:off x="284175" y="-433465"/>
            <a:ext cx="1489050" cy="2519931"/>
          </a:xfrm>
          <a:custGeom>
            <a:avLst/>
            <a:gdLst/>
            <a:ahLst/>
            <a:cxnLst/>
            <a:rect l="l" t="t" r="r" b="b"/>
            <a:pathLst>
              <a:path w="1489050" h="2519931">
                <a:moveTo>
                  <a:pt x="0" y="2519931"/>
                </a:moveTo>
                <a:lnTo>
                  <a:pt x="1489050" y="2519931"/>
                </a:lnTo>
                <a:lnTo>
                  <a:pt x="1489050" y="0"/>
                </a:lnTo>
                <a:lnTo>
                  <a:pt x="0" y="0"/>
                </a:lnTo>
                <a:lnTo>
                  <a:pt x="0" y="2519931"/>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a:off x="1773225" y="6210058"/>
            <a:ext cx="6866466" cy="2763308"/>
          </a:xfrm>
          <a:custGeom>
            <a:avLst/>
            <a:gdLst/>
            <a:ahLst/>
            <a:cxnLst/>
            <a:rect l="l" t="t" r="r" b="b"/>
            <a:pathLst>
              <a:path w="6866466" h="2763308">
                <a:moveTo>
                  <a:pt x="0" y="0"/>
                </a:moveTo>
                <a:lnTo>
                  <a:pt x="6866466" y="0"/>
                </a:lnTo>
                <a:lnTo>
                  <a:pt x="6866466" y="2763308"/>
                </a:lnTo>
                <a:lnTo>
                  <a:pt x="0" y="2763308"/>
                </a:lnTo>
                <a:lnTo>
                  <a:pt x="0" y="0"/>
                </a:lnTo>
                <a:close/>
              </a:path>
            </a:pathLst>
          </a:custGeom>
          <a:blipFill>
            <a:blip r:embed="rId12"/>
            <a:stretch>
              <a:fillRect l="-4159" t="-26402" r="-2205" b="-41574"/>
            </a:stretch>
          </a:blipFill>
        </p:spPr>
      </p:sp>
      <p:sp>
        <p:nvSpPr>
          <p:cNvPr id="8" name="Freeform 8"/>
          <p:cNvSpPr/>
          <p:nvPr/>
        </p:nvSpPr>
        <p:spPr>
          <a:xfrm>
            <a:off x="9486124" y="5595372"/>
            <a:ext cx="7475862" cy="3992681"/>
          </a:xfrm>
          <a:custGeom>
            <a:avLst/>
            <a:gdLst/>
            <a:ahLst/>
            <a:cxnLst/>
            <a:rect l="l" t="t" r="r" b="b"/>
            <a:pathLst>
              <a:path w="7475862" h="3992681">
                <a:moveTo>
                  <a:pt x="0" y="0"/>
                </a:moveTo>
                <a:lnTo>
                  <a:pt x="7475861" y="0"/>
                </a:lnTo>
                <a:lnTo>
                  <a:pt x="7475861" y="3992680"/>
                </a:lnTo>
                <a:lnTo>
                  <a:pt x="0" y="3992680"/>
                </a:lnTo>
                <a:lnTo>
                  <a:pt x="0" y="0"/>
                </a:lnTo>
                <a:close/>
              </a:path>
            </a:pathLst>
          </a:custGeom>
          <a:blipFill>
            <a:blip r:embed="rId13"/>
            <a:stretch>
              <a:fillRect b="-7896"/>
            </a:stretch>
          </a:blipFill>
        </p:spPr>
      </p:sp>
      <p:sp>
        <p:nvSpPr>
          <p:cNvPr id="9" name="TextBox 9"/>
          <p:cNvSpPr txBox="1"/>
          <p:nvPr/>
        </p:nvSpPr>
        <p:spPr>
          <a:xfrm>
            <a:off x="5637474" y="952715"/>
            <a:ext cx="5559913" cy="550545"/>
          </a:xfrm>
          <a:prstGeom prst="rect">
            <a:avLst/>
          </a:prstGeom>
        </p:spPr>
        <p:txBody>
          <a:bodyPr lIns="0" tIns="0" rIns="0" bIns="0" rtlCol="0" anchor="t">
            <a:spAutoFit/>
          </a:bodyPr>
          <a:lstStyle/>
          <a:p>
            <a:pPr algn="ctr">
              <a:lnSpc>
                <a:spcPts val="3915"/>
              </a:lnSpc>
            </a:pPr>
            <a:r>
              <a:rPr lang="en-US" sz="4500" b="1">
                <a:solidFill>
                  <a:srgbClr val="2C4600"/>
                </a:solidFill>
                <a:latin typeface="Century Gothic Paneuropean Bold"/>
                <a:ea typeface="Century Gothic Paneuropean Bold"/>
                <a:cs typeface="Century Gothic Paneuropean Bold"/>
                <a:sym typeface="Century Gothic Paneuropean Bold"/>
              </a:rPr>
              <a:t>MACROS</a:t>
            </a:r>
          </a:p>
        </p:txBody>
      </p:sp>
      <p:sp>
        <p:nvSpPr>
          <p:cNvPr id="10" name="TextBox 10"/>
          <p:cNvSpPr txBox="1"/>
          <p:nvPr/>
        </p:nvSpPr>
        <p:spPr>
          <a:xfrm>
            <a:off x="2142015" y="2217635"/>
            <a:ext cx="14003969" cy="3200400"/>
          </a:xfrm>
          <a:prstGeom prst="rect">
            <a:avLst/>
          </a:prstGeom>
        </p:spPr>
        <p:txBody>
          <a:bodyPr lIns="0" tIns="0" rIns="0" bIns="0" rtlCol="0" anchor="t">
            <a:spAutoFit/>
          </a:bodyPr>
          <a:lstStyle/>
          <a:p>
            <a:pPr algn="just">
              <a:lnSpc>
                <a:spcPts val="4200"/>
              </a:lnSpc>
            </a:pPr>
            <a:r>
              <a:rPr lang="en-US" sz="3000">
                <a:solidFill>
                  <a:srgbClr val="2C4600"/>
                </a:solidFill>
                <a:latin typeface="Arimo"/>
                <a:ea typeface="Arimo"/>
                <a:cs typeface="Arimo"/>
                <a:sym typeface="Arimo"/>
              </a:rPr>
              <a:t>The macros were created using the Record Macro feature to capture a sequence of actions such as:</a:t>
            </a:r>
          </a:p>
          <a:p>
            <a:pPr marL="647700" lvl="1" indent="-323850" algn="just">
              <a:lnSpc>
                <a:spcPts val="4200"/>
              </a:lnSpc>
              <a:buFont typeface="Arial"/>
              <a:buChar char="•"/>
            </a:pPr>
            <a:r>
              <a:rPr lang="en-US" sz="3000">
                <a:solidFill>
                  <a:srgbClr val="2C4600"/>
                </a:solidFill>
                <a:latin typeface="Arimo"/>
                <a:ea typeface="Arimo"/>
                <a:cs typeface="Arimo"/>
                <a:sym typeface="Arimo"/>
              </a:rPr>
              <a:t>Applying consistent formatting (currency, borders, bold headers).</a:t>
            </a:r>
          </a:p>
          <a:p>
            <a:pPr marL="647700" lvl="1" indent="-323850" algn="just">
              <a:lnSpc>
                <a:spcPts val="4200"/>
              </a:lnSpc>
              <a:buFont typeface="Arial"/>
              <a:buChar char="•"/>
            </a:pPr>
            <a:r>
              <a:rPr lang="en-US" sz="3000">
                <a:solidFill>
                  <a:srgbClr val="2C4600"/>
                </a:solidFill>
                <a:latin typeface="Arimo"/>
                <a:ea typeface="Arimo"/>
                <a:cs typeface="Arimo"/>
                <a:sym typeface="Arimo"/>
              </a:rPr>
              <a:t>Performing data calculations for sales, discounts, and net values.</a:t>
            </a:r>
          </a:p>
          <a:p>
            <a:pPr algn="just">
              <a:lnSpc>
                <a:spcPts val="4200"/>
              </a:lnSpc>
            </a:pPr>
            <a:r>
              <a:rPr lang="en-US" sz="3000">
                <a:solidFill>
                  <a:srgbClr val="2C4600"/>
                </a:solidFill>
                <a:latin typeface="Arimo"/>
                <a:ea typeface="Arimo"/>
                <a:cs typeface="Arimo"/>
                <a:sym typeface="Arimo"/>
              </a:rPr>
              <a:t>Automatically generating or refreshing PivotTables and charts for updated reports.</a:t>
            </a:r>
          </a:p>
          <a:p>
            <a:pPr algn="just">
              <a:lnSpc>
                <a:spcPts val="4200"/>
              </a:lnSpc>
            </a:pPr>
            <a:endParaRPr lang="en-US" sz="3000">
              <a:solidFill>
                <a:srgbClr val="2C4600"/>
              </a:solidFill>
              <a:latin typeface="Arimo"/>
              <a:ea typeface="Arimo"/>
              <a:cs typeface="Arimo"/>
              <a:sym typeface="Arim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4F0D8"/>
        </a:solidFill>
        <a:effectLst/>
      </p:bgPr>
    </p:bg>
    <p:spTree>
      <p:nvGrpSpPr>
        <p:cNvPr id="1" name=""/>
        <p:cNvGrpSpPr/>
        <p:nvPr/>
      </p:nvGrpSpPr>
      <p:grpSpPr>
        <a:xfrm>
          <a:off x="0" y="0"/>
          <a:ext cx="0" cy="0"/>
          <a:chOff x="0" y="0"/>
          <a:chExt cx="0" cy="0"/>
        </a:xfrm>
      </p:grpSpPr>
      <p:sp>
        <p:nvSpPr>
          <p:cNvPr id="2" name="TextBox 2"/>
          <p:cNvSpPr txBox="1"/>
          <p:nvPr/>
        </p:nvSpPr>
        <p:spPr>
          <a:xfrm>
            <a:off x="1197285" y="4763242"/>
            <a:ext cx="15893431" cy="3684726"/>
          </a:xfrm>
          <a:prstGeom prst="rect">
            <a:avLst/>
          </a:prstGeom>
        </p:spPr>
        <p:txBody>
          <a:bodyPr lIns="0" tIns="0" rIns="0" bIns="0" rtlCol="0" anchor="t">
            <a:spAutoFit/>
          </a:bodyPr>
          <a:lstStyle/>
          <a:p>
            <a:pPr algn="just">
              <a:lnSpc>
                <a:spcPts val="4208"/>
              </a:lnSpc>
            </a:pPr>
            <a:r>
              <a:rPr lang="en-US" sz="3005">
                <a:solidFill>
                  <a:srgbClr val="2C4600"/>
                </a:solidFill>
                <a:latin typeface="Arimo"/>
                <a:ea typeface="Arimo"/>
                <a:cs typeface="Arimo"/>
                <a:sym typeface="Arimo"/>
              </a:rPr>
              <a:t>The analysis provided insights into sales performance, product trends, and discount strategies. Online sales were the top-performing channel, and among products, Technology, Office Supplies, and Furniture contributed most to revenue. A 5% discount slightly increased sales while maintaining profits, whereas a 10% discount raised sales but reduced profit. PivotTables, PivotCharts, What-If Analysis, Goal Seek, and Macros were used to aggregate data, simulate scenarios, and automate repetitive tasks. The interactive dashboard allowed stakeholders to explore data and make informed decisions.</a:t>
            </a:r>
          </a:p>
        </p:txBody>
      </p:sp>
      <p:sp>
        <p:nvSpPr>
          <p:cNvPr id="3" name="TextBox 3"/>
          <p:cNvSpPr txBox="1"/>
          <p:nvPr/>
        </p:nvSpPr>
        <p:spPr>
          <a:xfrm>
            <a:off x="3608744" y="3326775"/>
            <a:ext cx="5693159" cy="844550"/>
          </a:xfrm>
          <a:prstGeom prst="rect">
            <a:avLst/>
          </a:prstGeom>
        </p:spPr>
        <p:txBody>
          <a:bodyPr lIns="0" tIns="0" rIns="0" bIns="0" rtlCol="0" anchor="t">
            <a:spAutoFit/>
          </a:bodyPr>
          <a:lstStyle/>
          <a:p>
            <a:pPr algn="ctr">
              <a:lnSpc>
                <a:spcPts val="6999"/>
              </a:lnSpc>
              <a:spcBef>
                <a:spcPct val="0"/>
              </a:spcBef>
            </a:pPr>
            <a:r>
              <a:rPr lang="en-US" sz="4999" b="1">
                <a:solidFill>
                  <a:srgbClr val="2C4600"/>
                </a:solidFill>
                <a:latin typeface="Century Gothic Paneuropean Bold"/>
                <a:ea typeface="Century Gothic Paneuropean Bold"/>
                <a:cs typeface="Century Gothic Paneuropean Bold"/>
                <a:sym typeface="Century Gothic Paneuropean Bold"/>
              </a:rPr>
              <a:t>CONCLUSION</a:t>
            </a:r>
          </a:p>
        </p:txBody>
      </p:sp>
      <p:grpSp>
        <p:nvGrpSpPr>
          <p:cNvPr id="4" name="Group 4"/>
          <p:cNvGrpSpPr/>
          <p:nvPr/>
        </p:nvGrpSpPr>
        <p:grpSpPr>
          <a:xfrm>
            <a:off x="7923276" y="-9078454"/>
            <a:ext cx="13891641" cy="13917896"/>
            <a:chOff x="0" y="0"/>
            <a:chExt cx="18522188" cy="18557195"/>
          </a:xfrm>
        </p:grpSpPr>
        <p:sp>
          <p:nvSpPr>
            <p:cNvPr id="5" name="Freeform 5"/>
            <p:cNvSpPr/>
            <p:nvPr/>
          </p:nvSpPr>
          <p:spPr>
            <a:xfrm rot="9891071">
              <a:off x="6460436" y="8069728"/>
              <a:ext cx="11104787" cy="8800544"/>
            </a:xfrm>
            <a:custGeom>
              <a:avLst/>
              <a:gdLst/>
              <a:ahLst/>
              <a:cxnLst/>
              <a:rect l="l" t="t" r="r" b="b"/>
              <a:pathLst>
                <a:path w="11104787" h="8800544">
                  <a:moveTo>
                    <a:pt x="0" y="0"/>
                  </a:moveTo>
                  <a:lnTo>
                    <a:pt x="11104787" y="0"/>
                  </a:lnTo>
                  <a:lnTo>
                    <a:pt x="11104787" y="8800544"/>
                  </a:lnTo>
                  <a:lnTo>
                    <a:pt x="0" y="880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9891071">
              <a:off x="1765898" y="1580716"/>
              <a:ext cx="14144856" cy="15395762"/>
            </a:xfrm>
            <a:custGeom>
              <a:avLst/>
              <a:gdLst/>
              <a:ahLst/>
              <a:cxnLst/>
              <a:rect l="l" t="t" r="r" b="b"/>
              <a:pathLst>
                <a:path w="14144856" h="15395762">
                  <a:moveTo>
                    <a:pt x="0" y="0"/>
                  </a:moveTo>
                  <a:lnTo>
                    <a:pt x="14144857" y="0"/>
                  </a:lnTo>
                  <a:lnTo>
                    <a:pt x="14144857" y="15395763"/>
                  </a:lnTo>
                  <a:lnTo>
                    <a:pt x="0" y="1539576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rot="9891071">
              <a:off x="8119241" y="12409009"/>
              <a:ext cx="4618551" cy="5486400"/>
            </a:xfrm>
            <a:custGeom>
              <a:avLst/>
              <a:gdLst/>
              <a:ahLst/>
              <a:cxnLst/>
              <a:rect l="l" t="t" r="r" b="b"/>
              <a:pathLst>
                <a:path w="4618551" h="5486400">
                  <a:moveTo>
                    <a:pt x="0" y="0"/>
                  </a:moveTo>
                  <a:lnTo>
                    <a:pt x="4618552" y="0"/>
                  </a:lnTo>
                  <a:lnTo>
                    <a:pt x="4618552" y="5486400"/>
                  </a:lnTo>
                  <a:lnTo>
                    <a:pt x="0" y="54864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rot="9891071">
              <a:off x="4638557" y="11607142"/>
              <a:ext cx="3142211" cy="5486400"/>
            </a:xfrm>
            <a:custGeom>
              <a:avLst/>
              <a:gdLst/>
              <a:ahLst/>
              <a:cxnLst/>
              <a:rect l="l" t="t" r="r" b="b"/>
              <a:pathLst>
                <a:path w="3142211" h="5486400">
                  <a:moveTo>
                    <a:pt x="0" y="0"/>
                  </a:moveTo>
                  <a:lnTo>
                    <a:pt x="3142211" y="0"/>
                  </a:lnTo>
                  <a:lnTo>
                    <a:pt x="3142211" y="5486400"/>
                  </a:lnTo>
                  <a:lnTo>
                    <a:pt x="0" y="54864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4F0D8"/>
        </a:solidFill>
        <a:effectLst/>
      </p:bgPr>
    </p:bg>
    <p:spTree>
      <p:nvGrpSpPr>
        <p:cNvPr id="1" name=""/>
        <p:cNvGrpSpPr/>
        <p:nvPr/>
      </p:nvGrpSpPr>
      <p:grpSpPr>
        <a:xfrm>
          <a:off x="0" y="0"/>
          <a:ext cx="0" cy="0"/>
          <a:chOff x="0" y="0"/>
          <a:chExt cx="0" cy="0"/>
        </a:xfrm>
      </p:grpSpPr>
      <p:sp>
        <p:nvSpPr>
          <p:cNvPr id="2" name="Freeform 2"/>
          <p:cNvSpPr/>
          <p:nvPr/>
        </p:nvSpPr>
        <p:spPr>
          <a:xfrm>
            <a:off x="-4164295" y="7200900"/>
            <a:ext cx="8328590" cy="6600408"/>
          </a:xfrm>
          <a:custGeom>
            <a:avLst/>
            <a:gdLst/>
            <a:ahLst/>
            <a:cxnLst/>
            <a:rect l="l" t="t" r="r" b="b"/>
            <a:pathLst>
              <a:path w="8328590" h="6600408">
                <a:moveTo>
                  <a:pt x="0" y="0"/>
                </a:moveTo>
                <a:lnTo>
                  <a:pt x="8328590" y="0"/>
                </a:lnTo>
                <a:lnTo>
                  <a:pt x="8328590" y="6600408"/>
                </a:lnTo>
                <a:lnTo>
                  <a:pt x="0" y="66004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3631678" y="7446153"/>
            <a:ext cx="10608642" cy="11546822"/>
          </a:xfrm>
          <a:custGeom>
            <a:avLst/>
            <a:gdLst/>
            <a:ahLst/>
            <a:cxnLst/>
            <a:rect l="l" t="t" r="r" b="b"/>
            <a:pathLst>
              <a:path w="10608642" h="11546822">
                <a:moveTo>
                  <a:pt x="0" y="0"/>
                </a:moveTo>
                <a:lnTo>
                  <a:pt x="10608643" y="0"/>
                </a:lnTo>
                <a:lnTo>
                  <a:pt x="10608643"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849365">
            <a:off x="-209999" y="72009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3704487" y="8229600"/>
            <a:ext cx="2356658" cy="4114800"/>
          </a:xfrm>
          <a:custGeom>
            <a:avLst/>
            <a:gdLst/>
            <a:ahLst/>
            <a:cxnLst/>
            <a:rect l="l" t="t" r="r" b="b"/>
            <a:pathLst>
              <a:path w="2356658" h="4114800">
                <a:moveTo>
                  <a:pt x="0" y="0"/>
                </a:moveTo>
                <a:lnTo>
                  <a:pt x="2356659" y="0"/>
                </a:lnTo>
                <a:lnTo>
                  <a:pt x="2356659"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9891071">
            <a:off x="13768657" y="-4710460"/>
            <a:ext cx="8328590" cy="6600408"/>
          </a:xfrm>
          <a:custGeom>
            <a:avLst/>
            <a:gdLst/>
            <a:ahLst/>
            <a:cxnLst/>
            <a:rect l="l" t="t" r="r" b="b"/>
            <a:pathLst>
              <a:path w="8328590" h="6600408">
                <a:moveTo>
                  <a:pt x="0" y="0"/>
                </a:moveTo>
                <a:lnTo>
                  <a:pt x="8328591" y="0"/>
                </a:lnTo>
                <a:lnTo>
                  <a:pt x="8328591" y="6600407"/>
                </a:lnTo>
                <a:lnTo>
                  <a:pt x="0" y="66004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rot="9891071">
            <a:off x="10247754" y="-9577219"/>
            <a:ext cx="10608642" cy="11546822"/>
          </a:xfrm>
          <a:custGeom>
            <a:avLst/>
            <a:gdLst/>
            <a:ahLst/>
            <a:cxnLst/>
            <a:rect l="l" t="t" r="r" b="b"/>
            <a:pathLst>
              <a:path w="10608642" h="11546822">
                <a:moveTo>
                  <a:pt x="0" y="0"/>
                </a:moveTo>
                <a:lnTo>
                  <a:pt x="10608642" y="0"/>
                </a:lnTo>
                <a:lnTo>
                  <a:pt x="10608642" y="11546822"/>
                </a:lnTo>
                <a:lnTo>
                  <a:pt x="0" y="1154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9891071">
            <a:off x="15012761" y="-1456000"/>
            <a:ext cx="3463913" cy="4114800"/>
          </a:xfrm>
          <a:custGeom>
            <a:avLst/>
            <a:gdLst/>
            <a:ahLst/>
            <a:cxnLst/>
            <a:rect l="l" t="t" r="r" b="b"/>
            <a:pathLst>
              <a:path w="3463913" h="4114800">
                <a:moveTo>
                  <a:pt x="0" y="0"/>
                </a:moveTo>
                <a:lnTo>
                  <a:pt x="3463914" y="0"/>
                </a:lnTo>
                <a:lnTo>
                  <a:pt x="3463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rot="9891071">
            <a:off x="12402248" y="-2057400"/>
            <a:ext cx="2356658" cy="4114800"/>
          </a:xfrm>
          <a:custGeom>
            <a:avLst/>
            <a:gdLst/>
            <a:ahLst/>
            <a:cxnLst/>
            <a:rect l="l" t="t" r="r" b="b"/>
            <a:pathLst>
              <a:path w="2356658" h="4114800">
                <a:moveTo>
                  <a:pt x="0" y="0"/>
                </a:moveTo>
                <a:lnTo>
                  <a:pt x="2356658" y="0"/>
                </a:lnTo>
                <a:lnTo>
                  <a:pt x="235665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16514775" y="8229600"/>
            <a:ext cx="1489050" cy="2519931"/>
          </a:xfrm>
          <a:custGeom>
            <a:avLst/>
            <a:gdLst/>
            <a:ahLst/>
            <a:cxnLst/>
            <a:rect l="l" t="t" r="r" b="b"/>
            <a:pathLst>
              <a:path w="1489050" h="2519931">
                <a:moveTo>
                  <a:pt x="0" y="0"/>
                </a:moveTo>
                <a:lnTo>
                  <a:pt x="1489050" y="0"/>
                </a:lnTo>
                <a:lnTo>
                  <a:pt x="1489050" y="2519931"/>
                </a:lnTo>
                <a:lnTo>
                  <a:pt x="0" y="251993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1" name="Freeform 11"/>
          <p:cNvSpPr/>
          <p:nvPr/>
        </p:nvSpPr>
        <p:spPr>
          <a:xfrm flipV="1">
            <a:off x="284175" y="-433465"/>
            <a:ext cx="1489050" cy="2519931"/>
          </a:xfrm>
          <a:custGeom>
            <a:avLst/>
            <a:gdLst/>
            <a:ahLst/>
            <a:cxnLst/>
            <a:rect l="l" t="t" r="r" b="b"/>
            <a:pathLst>
              <a:path w="1489050" h="2519931">
                <a:moveTo>
                  <a:pt x="0" y="2519931"/>
                </a:moveTo>
                <a:lnTo>
                  <a:pt x="1489050" y="2519931"/>
                </a:lnTo>
                <a:lnTo>
                  <a:pt x="1489050" y="0"/>
                </a:lnTo>
                <a:lnTo>
                  <a:pt x="0" y="0"/>
                </a:lnTo>
                <a:lnTo>
                  <a:pt x="0" y="2519931"/>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TextBox 12"/>
          <p:cNvSpPr txBox="1"/>
          <p:nvPr/>
        </p:nvSpPr>
        <p:spPr>
          <a:xfrm>
            <a:off x="2952168" y="4480917"/>
            <a:ext cx="12383663" cy="1404583"/>
          </a:xfrm>
          <a:prstGeom prst="rect">
            <a:avLst/>
          </a:prstGeom>
        </p:spPr>
        <p:txBody>
          <a:bodyPr lIns="0" tIns="0" rIns="0" bIns="0" rtlCol="0" anchor="t">
            <a:spAutoFit/>
          </a:bodyPr>
          <a:lstStyle/>
          <a:p>
            <a:pPr algn="ctr">
              <a:lnSpc>
                <a:spcPts val="10151"/>
              </a:lnSpc>
            </a:pPr>
            <a:r>
              <a:rPr lang="en-US" sz="11668" spc="-1178">
                <a:solidFill>
                  <a:srgbClr val="2C4600"/>
                </a:solidFill>
                <a:latin typeface="Lexend Mega"/>
                <a:ea typeface="Lexend Mega"/>
                <a:cs typeface="Lexend Mega"/>
                <a:sym typeface="Lexend Mega"/>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TotalTime>
  <Words>869</Words>
  <Application>Microsoft Office PowerPoint</Application>
  <PresentationFormat>Custom</PresentationFormat>
  <Paragraphs>84</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Arimo</vt:lpstr>
      <vt:lpstr>Lexend Mega</vt:lpstr>
      <vt:lpstr>Century Gothic Paneuropean Bold</vt:lpstr>
      <vt:lpstr>Arial</vt:lpstr>
      <vt:lpstr>Calibri</vt:lpstr>
      <vt:lpstr>Canva Sans</vt:lpstr>
      <vt:lpstr>Arimo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Modern Aesthetic Group Project Presentation</dc:title>
  <dc:creator>lenovo</dc:creator>
  <cp:lastModifiedBy>momoayase34@outlook.com</cp:lastModifiedBy>
  <cp:revision>3</cp:revision>
  <dcterms:created xsi:type="dcterms:W3CDTF">2006-08-16T00:00:00Z</dcterms:created>
  <dcterms:modified xsi:type="dcterms:W3CDTF">2025-10-10T16:15:41Z</dcterms:modified>
  <dc:identifier>DAG1K23suJ4</dc:identifier>
</cp:coreProperties>
</file>